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oboto Bold" charset="1" panose="02000000000000000000"/>
      <p:regular r:id="rId14"/>
    </p:embeddedFont>
    <p:embeddedFont>
      <p:font typeface="Roboto" charset="1" panose="02000000000000000000"/>
      <p:regular r:id="rId15"/>
    </p:embeddedFont>
    <p:embeddedFont>
      <p:font typeface="Roboto Bold Italics" charset="1" panose="02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12" Target="../media/image19.png" Type="http://schemas.openxmlformats.org/officeDocument/2006/relationships/image"/><Relationship Id="rId13" Target="../media/image20.png" Type="http://schemas.openxmlformats.org/officeDocument/2006/relationships/image"/><Relationship Id="rId14" Target="../media/image21.png" Type="http://schemas.openxmlformats.org/officeDocument/2006/relationships/image"/><Relationship Id="rId15" Target="../media/image22.png" Type="http://schemas.openxmlformats.org/officeDocument/2006/relationships/image"/><Relationship Id="rId16" Target="../media/image23.png" Type="http://schemas.openxmlformats.org/officeDocument/2006/relationships/image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png" Type="http://schemas.openxmlformats.org/officeDocument/2006/relationships/image"/><Relationship Id="rId12" Target="../media/image43.png" Type="http://schemas.openxmlformats.org/officeDocument/2006/relationships/image"/><Relationship Id="rId13" Target="../media/image44.png" Type="http://schemas.openxmlformats.org/officeDocument/2006/relationships/image"/><Relationship Id="rId14" Target="../media/image45.png" Type="http://schemas.openxmlformats.org/officeDocument/2006/relationships/image"/><Relationship Id="rId15" Target="../media/image46.png" Type="http://schemas.openxmlformats.org/officeDocument/2006/relationships/image"/><Relationship Id="rId16" Target="../media/image47.png" Type="http://schemas.openxmlformats.org/officeDocument/2006/relationships/image"/><Relationship Id="rId17" Target="../media/image48.png" Type="http://schemas.openxmlformats.org/officeDocument/2006/relationships/image"/><Relationship Id="rId18" Target="../media/image49.png" Type="http://schemas.openxmlformats.org/officeDocument/2006/relationships/image"/><Relationship Id="rId19" Target="../media/image50.png" Type="http://schemas.openxmlformats.org/officeDocument/2006/relationships/image"/><Relationship Id="rId2" Target="../media/image33.png" Type="http://schemas.openxmlformats.org/officeDocument/2006/relationships/image"/><Relationship Id="rId20" Target="../media/image51.png" Type="http://schemas.openxmlformats.org/officeDocument/2006/relationships/image"/><Relationship Id="rId21" Target="../media/image52.png" Type="http://schemas.openxmlformats.org/officeDocument/2006/relationships/image"/><Relationship Id="rId22" Target="../media/image53.png" Type="http://schemas.openxmlformats.org/officeDocument/2006/relationships/image"/><Relationship Id="rId23" Target="../media/image54.png" Type="http://schemas.openxmlformats.org/officeDocument/2006/relationships/image"/><Relationship Id="rId24" Target="../media/image55.png" Type="http://schemas.openxmlformats.org/officeDocument/2006/relationships/image"/><Relationship Id="rId25" Target="../media/image56.png" Type="http://schemas.openxmlformats.org/officeDocument/2006/relationships/image"/><Relationship Id="rId26" Target="../media/image57.png" Type="http://schemas.openxmlformats.org/officeDocument/2006/relationships/image"/><Relationship Id="rId27" Target="../media/image58.png" Type="http://schemas.openxmlformats.org/officeDocument/2006/relationships/image"/><Relationship Id="rId28" Target="../media/image59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69.png" Type="http://schemas.openxmlformats.org/officeDocument/2006/relationships/image"/><Relationship Id="rId12" Target="../media/image70.png" Type="http://schemas.openxmlformats.org/officeDocument/2006/relationships/image"/><Relationship Id="rId13" Target="../media/image71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62.png" Type="http://schemas.openxmlformats.org/officeDocument/2006/relationships/image"/><Relationship Id="rId5" Target="../media/image63.png" Type="http://schemas.openxmlformats.org/officeDocument/2006/relationships/image"/><Relationship Id="rId6" Target="../media/image64.png" Type="http://schemas.openxmlformats.org/officeDocument/2006/relationships/image"/><Relationship Id="rId7" Target="../media/image65.png" Type="http://schemas.openxmlformats.org/officeDocument/2006/relationships/image"/><Relationship Id="rId8" Target="../media/image66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png" Type="http://schemas.openxmlformats.org/officeDocument/2006/relationships/image"/><Relationship Id="rId11" Target="../media/image82.png" Type="http://schemas.openxmlformats.org/officeDocument/2006/relationships/image"/><Relationship Id="rId2" Target="../media/image73.png" Type="http://schemas.openxmlformats.org/officeDocument/2006/relationships/image"/><Relationship Id="rId3" Target="../media/image74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Relationship Id="rId6" Target="../media/image77.png" Type="http://schemas.openxmlformats.org/officeDocument/2006/relationships/image"/><Relationship Id="rId7" Target="../media/image78.png" Type="http://schemas.openxmlformats.org/officeDocument/2006/relationships/image"/><Relationship Id="rId8" Target="../media/image79.png" Type="http://schemas.openxmlformats.org/officeDocument/2006/relationships/image"/><Relationship Id="rId9" Target="../media/image8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3.png" Type="http://schemas.openxmlformats.org/officeDocument/2006/relationships/image"/><Relationship Id="rId3" Target="../media/image84.png" Type="http://schemas.openxmlformats.org/officeDocument/2006/relationships/image"/><Relationship Id="rId4" Target="../media/image85.png" Type="http://schemas.openxmlformats.org/officeDocument/2006/relationships/image"/><Relationship Id="rId5" Target="../media/image86.png" Type="http://schemas.openxmlformats.org/officeDocument/2006/relationships/image"/><Relationship Id="rId6" Target="../media/image87.png" Type="http://schemas.openxmlformats.org/officeDocument/2006/relationships/image"/><Relationship Id="rId7" Target="../media/image8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3672" y="2894696"/>
            <a:ext cx="8063508" cy="1549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30"/>
              </a:lnSpc>
            </a:pPr>
            <a:r>
              <a:rPr lang="en-US" sz="11630" spc="-289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Qudra | </a:t>
            </a:r>
            <a:r>
              <a:rPr lang="ar-EG" sz="11630" spc="-289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  <a:rtl val="true"/>
              </a:rPr>
              <a:t>قدرة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6169" y="4720873"/>
            <a:ext cx="7429235" cy="118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1"/>
              </a:lnSpc>
            </a:pPr>
            <a:r>
              <a:rPr lang="en-US" sz="4122" spc="-82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Turn skills into evidence. </a:t>
            </a:r>
          </a:p>
          <a:p>
            <a:pPr algn="l">
              <a:lnSpc>
                <a:spcPts val="4741"/>
              </a:lnSpc>
            </a:pPr>
            <a:r>
              <a:rPr lang="en-US" sz="4122" spc="-82" b="true">
                <a:solidFill>
                  <a:srgbClr val="704BE6"/>
                </a:solidFill>
                <a:latin typeface="Roboto Bold"/>
                <a:ea typeface="Roboto Bold"/>
                <a:cs typeface="Roboto Bold"/>
                <a:sym typeface="Roboto Bold"/>
              </a:rPr>
              <a:t>Connect talent with opportunity.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3402" y="6276210"/>
            <a:ext cx="6705868" cy="1340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spc="-25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An AI-powered platform helping young people demonstrate what they can do—and helping employers discover relevant talent.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144000" y="2350377"/>
            <a:ext cx="2832890" cy="5793953"/>
          </a:xfrm>
          <a:custGeom>
            <a:avLst/>
            <a:gdLst/>
            <a:ahLst/>
            <a:cxnLst/>
            <a:rect r="r" b="b" t="t" l="l"/>
            <a:pathLst>
              <a:path h="5793953" w="2832890">
                <a:moveTo>
                  <a:pt x="0" y="0"/>
                </a:moveTo>
                <a:lnTo>
                  <a:pt x="2832890" y="0"/>
                </a:lnTo>
                <a:lnTo>
                  <a:pt x="2832890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537890">
            <a:off x="9684466" y="3935563"/>
            <a:ext cx="1486728" cy="547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8"/>
              </a:lnSpc>
            </a:pPr>
            <a:r>
              <a:rPr lang="en-US" sz="1850" spc="-3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Demonstrated Skills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570574" y="4711687"/>
            <a:ext cx="1760986" cy="2361309"/>
          </a:xfrm>
          <a:custGeom>
            <a:avLst/>
            <a:gdLst/>
            <a:ahLst/>
            <a:cxnLst/>
            <a:rect r="r" b="b" t="t" l="l"/>
            <a:pathLst>
              <a:path h="2361309" w="1760986">
                <a:moveTo>
                  <a:pt x="0" y="0"/>
                </a:moveTo>
                <a:lnTo>
                  <a:pt x="1760986" y="0"/>
                </a:lnTo>
                <a:lnTo>
                  <a:pt x="1760986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747196" y="3640352"/>
            <a:ext cx="3062584" cy="4077631"/>
          </a:xfrm>
          <a:custGeom>
            <a:avLst/>
            <a:gdLst/>
            <a:ahLst/>
            <a:cxnLst/>
            <a:rect r="r" b="b" t="t" l="l"/>
            <a:pathLst>
              <a:path h="4077631" w="3062584">
                <a:moveTo>
                  <a:pt x="0" y="0"/>
                </a:moveTo>
                <a:lnTo>
                  <a:pt x="3062584" y="0"/>
                </a:lnTo>
                <a:lnTo>
                  <a:pt x="3062584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78488" y="5356674"/>
            <a:ext cx="437512" cy="644987"/>
          </a:xfrm>
          <a:custGeom>
            <a:avLst/>
            <a:gdLst/>
            <a:ahLst/>
            <a:cxnLst/>
            <a:rect r="r" b="b" t="t" l="l"/>
            <a:pathLst>
              <a:path h="644987" w="437512">
                <a:moveTo>
                  <a:pt x="0" y="0"/>
                </a:moveTo>
                <a:lnTo>
                  <a:pt x="437512" y="0"/>
                </a:lnTo>
                <a:lnTo>
                  <a:pt x="43751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278488" y="4493047"/>
            <a:ext cx="2832890" cy="2153601"/>
          </a:xfrm>
          <a:custGeom>
            <a:avLst/>
            <a:gdLst/>
            <a:ahLst/>
            <a:cxnLst/>
            <a:rect r="r" b="b" t="t" l="l"/>
            <a:pathLst>
              <a:path h="2153601" w="2832890">
                <a:moveTo>
                  <a:pt x="0" y="0"/>
                </a:moveTo>
                <a:lnTo>
                  <a:pt x="2832890" y="0"/>
                </a:lnTo>
                <a:lnTo>
                  <a:pt x="283289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798842" y="2350377"/>
            <a:ext cx="2843828" cy="5793953"/>
          </a:xfrm>
          <a:custGeom>
            <a:avLst/>
            <a:gdLst/>
            <a:ahLst/>
            <a:cxnLst/>
            <a:rect r="r" b="b" t="t" l="l"/>
            <a:pathLst>
              <a:path h="5793953" w="2843828">
                <a:moveTo>
                  <a:pt x="0" y="0"/>
                </a:moveTo>
                <a:lnTo>
                  <a:pt x="2843828" y="0"/>
                </a:lnTo>
                <a:lnTo>
                  <a:pt x="2843828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-748828">
            <a:off x="15716109" y="3772138"/>
            <a:ext cx="1215741" cy="69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4"/>
              </a:lnSpc>
            </a:pPr>
            <a:r>
              <a:rPr lang="en-US" b="true" sz="2377" i="true" spc="-47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Employer Needs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455110" y="4711687"/>
            <a:ext cx="1531292" cy="2361309"/>
          </a:xfrm>
          <a:custGeom>
            <a:avLst/>
            <a:gdLst/>
            <a:ahLst/>
            <a:cxnLst/>
            <a:rect r="r" b="b" t="t" l="l"/>
            <a:pathLst>
              <a:path h="2361309" w="1531292">
                <a:moveTo>
                  <a:pt x="0" y="0"/>
                </a:moveTo>
                <a:lnTo>
                  <a:pt x="1531292" y="0"/>
                </a:lnTo>
                <a:lnTo>
                  <a:pt x="1531292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3644" y="462997"/>
            <a:ext cx="7534848" cy="2335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7"/>
              </a:lnSpc>
            </a:pPr>
            <a:r>
              <a:rPr lang="en-US" sz="5554" spc="-111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Potential is everywhere. </a:t>
            </a:r>
            <a:r>
              <a:rPr lang="en-US" sz="5554" spc="-111" b="true">
                <a:solidFill>
                  <a:srgbClr val="534ED1"/>
                </a:solidFill>
                <a:latin typeface="Roboto Bold"/>
                <a:ea typeface="Roboto Bold"/>
                <a:cs typeface="Roboto Bold"/>
                <a:sym typeface="Roboto Bold"/>
              </a:rPr>
              <a:t>Verifiable evidence</a:t>
            </a:r>
            <a:r>
              <a:rPr lang="en-US" sz="5554" spc="-111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</a:p>
          <a:p>
            <a:pPr algn="l">
              <a:lnSpc>
                <a:spcPts val="6107"/>
              </a:lnSpc>
            </a:pPr>
            <a:r>
              <a:rPr lang="en-US" sz="5554" spc="-111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is harder to find.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0973" y="3017859"/>
            <a:ext cx="5801904" cy="81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399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Young people can have relevant skills </a:t>
            </a:r>
          </a:p>
          <a:p>
            <a:pPr algn="l">
              <a:lnSpc>
                <a:spcPts val="3360"/>
              </a:lnSpc>
            </a:pPr>
            <a:r>
              <a:rPr lang="en-US" sz="2399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without strong professional track records.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5111" y="4117301"/>
            <a:ext cx="6388147" cy="81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399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Employers need ways to evaluate job-relevant </a:t>
            </a:r>
          </a:p>
          <a:p>
            <a:pPr algn="l">
              <a:lnSpc>
                <a:spcPts val="3360"/>
              </a:lnSpc>
            </a:pPr>
            <a:r>
              <a:rPr lang="en-US" sz="2399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skills beyond résumé claims.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5111" y="5126377"/>
            <a:ext cx="6388147" cy="81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399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The transition from learning to demonstrating </a:t>
            </a:r>
          </a:p>
          <a:p>
            <a:pPr algn="l">
              <a:lnSpc>
                <a:spcPts val="3360"/>
              </a:lnSpc>
            </a:pPr>
            <a:r>
              <a:rPr lang="en-US" sz="2399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skills is fragmented.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07818" y="5990729"/>
            <a:ext cx="8290852" cy="3443576"/>
          </a:xfrm>
          <a:custGeom>
            <a:avLst/>
            <a:gdLst/>
            <a:ahLst/>
            <a:cxnLst/>
            <a:rect r="r" b="b" t="t" l="l"/>
            <a:pathLst>
              <a:path h="3443576" w="8290852">
                <a:moveTo>
                  <a:pt x="0" y="0"/>
                </a:moveTo>
                <a:lnTo>
                  <a:pt x="8290852" y="0"/>
                </a:lnTo>
                <a:lnTo>
                  <a:pt x="8290852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62444" y="6407012"/>
            <a:ext cx="4654797" cy="1922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91"/>
              </a:lnSpc>
            </a:pPr>
            <a:r>
              <a:rPr lang="en-US" sz="13542" spc="-271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46.6%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8970" y="8116536"/>
            <a:ext cx="5681077" cy="84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unemployment among Jordanians </a:t>
            </a:r>
          </a:p>
          <a:p>
            <a:pPr algn="l">
              <a:lnSpc>
                <a:spcPts val="3312"/>
              </a:lnSpc>
            </a:pPr>
            <a:r>
              <a:rPr lang="en-US" sz="2759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aged 15–24 in 2024.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1650" y="9573152"/>
            <a:ext cx="7981895" cy="296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1784">
                <a:solidFill>
                  <a:srgbClr val="9D9D9D"/>
                </a:solidFill>
                <a:latin typeface="Roboto"/>
                <a:ea typeface="Roboto"/>
                <a:cs typeface="Roboto"/>
                <a:sym typeface="Roboto"/>
              </a:rPr>
              <a:t>Source: Jordan Department of Statistics, Jordan in Figures 2025 (2024 data).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487732" y="207708"/>
            <a:ext cx="9800268" cy="9652945"/>
          </a:xfrm>
          <a:custGeom>
            <a:avLst/>
            <a:gdLst/>
            <a:ahLst/>
            <a:cxnLst/>
            <a:rect r="r" b="b" t="t" l="l"/>
            <a:pathLst>
              <a:path h="9652945" w="9800268">
                <a:moveTo>
                  <a:pt x="0" y="0"/>
                </a:moveTo>
                <a:lnTo>
                  <a:pt x="9800268" y="0"/>
                </a:lnTo>
                <a:lnTo>
                  <a:pt x="9800268" y="9652944"/>
                </a:lnTo>
                <a:lnTo>
                  <a:pt x="0" y="96529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936850" y="1293975"/>
            <a:ext cx="2134051" cy="32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b="true" sz="2047">
                <a:solidFill>
                  <a:srgbClr val="6B6D73"/>
                </a:solidFill>
                <a:latin typeface="Roboto Bold"/>
                <a:ea typeface="Roboto Bold"/>
                <a:cs typeface="Roboto Bold"/>
                <a:sym typeface="Roboto Bold"/>
              </a:rPr>
              <a:t>RÉSUMÉ CLAIMS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45740" y="1113245"/>
            <a:ext cx="2551150" cy="62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b="true" sz="2047">
                <a:solidFill>
                  <a:srgbClr val="454082"/>
                </a:solidFill>
                <a:latin typeface="Roboto Bold"/>
                <a:ea typeface="Roboto Bold"/>
                <a:cs typeface="Roboto Bold"/>
                <a:sym typeface="Roboto Bold"/>
              </a:rPr>
              <a:t>VERIFIED EVIDENCE </a:t>
            </a:r>
          </a:p>
          <a:p>
            <a:pPr algn="ctr">
              <a:lnSpc>
                <a:spcPts val="2457"/>
              </a:lnSpc>
            </a:pPr>
            <a:r>
              <a:rPr lang="en-US" b="true" sz="2047">
                <a:solidFill>
                  <a:srgbClr val="454082"/>
                </a:solidFill>
                <a:latin typeface="Roboto Bold"/>
                <a:ea typeface="Roboto Bold"/>
                <a:cs typeface="Roboto Bold"/>
                <a:sym typeface="Roboto Bold"/>
              </a:rPr>
              <a:t>OF CAPABILITY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925244" y="1924030"/>
            <a:ext cx="3926670" cy="7083928"/>
          </a:xfrm>
          <a:custGeom>
            <a:avLst/>
            <a:gdLst/>
            <a:ahLst/>
            <a:cxnLst/>
            <a:rect r="r" b="b" t="t" l="l"/>
            <a:pathLst>
              <a:path h="7083928" w="3926670">
                <a:moveTo>
                  <a:pt x="0" y="0"/>
                </a:moveTo>
                <a:lnTo>
                  <a:pt x="3926670" y="0"/>
                </a:lnTo>
                <a:lnTo>
                  <a:pt x="3926670" y="7083927"/>
                </a:lnTo>
                <a:lnTo>
                  <a:pt x="0" y="70839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351818" y="2350377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445598" y="2569017"/>
            <a:ext cx="1750048" cy="863627"/>
          </a:xfrm>
          <a:custGeom>
            <a:avLst/>
            <a:gdLst/>
            <a:ahLst/>
            <a:cxnLst/>
            <a:rect r="r" b="b" t="t" l="l"/>
            <a:pathLst>
              <a:path h="863627" w="1750048">
                <a:moveTo>
                  <a:pt x="0" y="0"/>
                </a:moveTo>
                <a:lnTo>
                  <a:pt x="1750048" y="0"/>
                </a:lnTo>
                <a:lnTo>
                  <a:pt x="175004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351818" y="4066699"/>
            <a:ext cx="2625072" cy="863627"/>
          </a:xfrm>
          <a:custGeom>
            <a:avLst/>
            <a:gdLst/>
            <a:ahLst/>
            <a:cxnLst/>
            <a:rect r="r" b="b" t="t" l="l"/>
            <a:pathLst>
              <a:path h="863627" w="2625072">
                <a:moveTo>
                  <a:pt x="0" y="0"/>
                </a:moveTo>
                <a:lnTo>
                  <a:pt x="2625072" y="0"/>
                </a:lnTo>
                <a:lnTo>
                  <a:pt x="262507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351818" y="5564382"/>
            <a:ext cx="2625072" cy="874559"/>
          </a:xfrm>
          <a:custGeom>
            <a:avLst/>
            <a:gdLst/>
            <a:ahLst/>
            <a:cxnLst/>
            <a:rect r="r" b="b" t="t" l="l"/>
            <a:pathLst>
              <a:path h="874559" w="2625072">
                <a:moveTo>
                  <a:pt x="0" y="0"/>
                </a:moveTo>
                <a:lnTo>
                  <a:pt x="2625072" y="0"/>
                </a:lnTo>
                <a:lnTo>
                  <a:pt x="2625072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351818" y="7062064"/>
            <a:ext cx="2625072" cy="874559"/>
          </a:xfrm>
          <a:custGeom>
            <a:avLst/>
            <a:gdLst/>
            <a:ahLst/>
            <a:cxnLst/>
            <a:rect r="r" b="b" t="t" l="l"/>
            <a:pathLst>
              <a:path h="874559" w="2625072">
                <a:moveTo>
                  <a:pt x="0" y="0"/>
                </a:moveTo>
                <a:lnTo>
                  <a:pt x="2625072" y="0"/>
                </a:lnTo>
                <a:lnTo>
                  <a:pt x="262507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716000" y="1924030"/>
            <a:ext cx="4145426" cy="7083928"/>
          </a:xfrm>
          <a:custGeom>
            <a:avLst/>
            <a:gdLst/>
            <a:ahLst/>
            <a:cxnLst/>
            <a:rect r="r" b="b" t="t" l="l"/>
            <a:pathLst>
              <a:path h="7083928" w="4145426">
                <a:moveTo>
                  <a:pt x="0" y="0"/>
                </a:moveTo>
                <a:lnTo>
                  <a:pt x="4145426" y="0"/>
                </a:lnTo>
                <a:lnTo>
                  <a:pt x="4145426" y="7083927"/>
                </a:lnTo>
                <a:lnTo>
                  <a:pt x="0" y="70839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096598" y="2352224"/>
            <a:ext cx="2123785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true">
                <a:solidFill>
                  <a:srgbClr val="454082"/>
                </a:solidFill>
                <a:latin typeface="Roboto Bold"/>
                <a:ea typeface="Roboto Bold"/>
                <a:cs typeface="Roboto Bold"/>
                <a:sym typeface="Roboto Bold"/>
              </a:rPr>
              <a:t>SKILL ASSESSMENT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923818" y="2569017"/>
            <a:ext cx="3718852" cy="1289974"/>
          </a:xfrm>
          <a:custGeom>
            <a:avLst/>
            <a:gdLst/>
            <a:ahLst/>
            <a:cxnLst/>
            <a:rect r="r" b="b" t="t" l="l"/>
            <a:pathLst>
              <a:path h="1289974" w="3718852">
                <a:moveTo>
                  <a:pt x="0" y="0"/>
                </a:moveTo>
                <a:lnTo>
                  <a:pt x="3718852" y="0"/>
                </a:lnTo>
                <a:lnTo>
                  <a:pt x="371885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5599792" y="2910840"/>
            <a:ext cx="1823145" cy="576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10" b="true">
                <a:solidFill>
                  <a:srgbClr val="404040"/>
                </a:solidFill>
                <a:latin typeface="Roboto Bold"/>
                <a:ea typeface="Roboto Bold"/>
                <a:cs typeface="Roboto Bold"/>
                <a:sym typeface="Roboto Bold"/>
              </a:rPr>
              <a:t>Problem Solving </a:t>
            </a:r>
          </a:p>
          <a:p>
            <a:pPr algn="l">
              <a:lnSpc>
                <a:spcPts val="2353"/>
              </a:lnSpc>
            </a:pPr>
            <a:r>
              <a:rPr lang="en-US" sz="181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Advanced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923818" y="4285339"/>
            <a:ext cx="3718852" cy="1082267"/>
          </a:xfrm>
          <a:custGeom>
            <a:avLst/>
            <a:gdLst/>
            <a:ahLst/>
            <a:cxnLst/>
            <a:rect r="r" b="b" t="t" l="l"/>
            <a:pathLst>
              <a:path h="1082267" w="3718852">
                <a:moveTo>
                  <a:pt x="0" y="0"/>
                </a:moveTo>
                <a:lnTo>
                  <a:pt x="3718852" y="0"/>
                </a:lnTo>
                <a:lnTo>
                  <a:pt x="371885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4281847" y="4522350"/>
            <a:ext cx="2351270" cy="576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10" b="true">
                <a:solidFill>
                  <a:srgbClr val="404040"/>
                </a:solidFill>
                <a:latin typeface="Roboto Bold"/>
                <a:ea typeface="Roboto Bold"/>
                <a:cs typeface="Roboto Bold"/>
                <a:sym typeface="Roboto Bold"/>
              </a:rPr>
              <a:t>Data Analysis Project </a:t>
            </a:r>
          </a:p>
          <a:p>
            <a:pPr algn="l">
              <a:lnSpc>
                <a:spcPts val="2353"/>
              </a:lnSpc>
            </a:pPr>
            <a:r>
              <a:rPr lang="en-US" sz="1810">
                <a:solidFill>
                  <a:srgbClr val="318F8F"/>
                </a:solidFill>
                <a:latin typeface="Roboto"/>
                <a:ea typeface="Roboto"/>
                <a:cs typeface="Roboto"/>
                <a:sym typeface="Roboto"/>
              </a:rPr>
              <a:t>Completed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3923818" y="5990729"/>
            <a:ext cx="3718852" cy="874559"/>
          </a:xfrm>
          <a:custGeom>
            <a:avLst/>
            <a:gdLst/>
            <a:ahLst/>
            <a:cxnLst/>
            <a:rect r="r" b="b" t="t" l="l"/>
            <a:pathLst>
              <a:path h="874559" w="3718852">
                <a:moveTo>
                  <a:pt x="0" y="0"/>
                </a:moveTo>
                <a:lnTo>
                  <a:pt x="3718852" y="0"/>
                </a:lnTo>
                <a:lnTo>
                  <a:pt x="371885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4294846" y="6218870"/>
            <a:ext cx="1051322" cy="4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b="true" sz="2759" spc="276">
                <a:solidFill>
                  <a:srgbClr val="454082"/>
                </a:solidFill>
                <a:latin typeface="Roboto Bold"/>
                <a:ea typeface="Roboto Bold"/>
                <a:cs typeface="Roboto Bold"/>
                <a:sym typeface="Roboto Bold"/>
              </a:rPr>
              <a:t>4.7/5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601617" y="6284469"/>
            <a:ext cx="1640667" cy="291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10" b="true">
                <a:solidFill>
                  <a:srgbClr val="404040"/>
                </a:solidFill>
                <a:latin typeface="Roboto Bold"/>
                <a:ea typeface="Roboto Bold"/>
                <a:cs typeface="Roboto Bold"/>
                <a:sym typeface="Roboto Bold"/>
              </a:rPr>
              <a:t>Average Rating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3923818" y="7499343"/>
            <a:ext cx="3718852" cy="1082267"/>
          </a:xfrm>
          <a:custGeom>
            <a:avLst/>
            <a:gdLst/>
            <a:ahLst/>
            <a:cxnLst/>
            <a:rect r="r" b="b" t="t" l="l"/>
            <a:pathLst>
              <a:path h="1082267" w="3718852">
                <a:moveTo>
                  <a:pt x="0" y="0"/>
                </a:moveTo>
                <a:lnTo>
                  <a:pt x="3718852" y="0"/>
                </a:lnTo>
                <a:lnTo>
                  <a:pt x="371885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4277492" y="7730309"/>
            <a:ext cx="2786703" cy="576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10" b="true">
                <a:solidFill>
                  <a:srgbClr val="318F8F"/>
                </a:solidFill>
                <a:latin typeface="Roboto Bold"/>
                <a:ea typeface="Roboto Bold"/>
                <a:cs typeface="Roboto Bold"/>
                <a:sym typeface="Roboto Bold"/>
              </a:rPr>
              <a:t>Blockchain Verified </a:t>
            </a:r>
          </a:p>
          <a:p>
            <a:pPr algn="l">
              <a:lnSpc>
                <a:spcPts val="2353"/>
              </a:lnSpc>
            </a:pPr>
            <a:r>
              <a:rPr lang="en-US" sz="181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Credential ID: 7F3A...9B2C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2840976" y="4493047"/>
            <a:ext cx="875024" cy="874559"/>
          </a:xfrm>
          <a:custGeom>
            <a:avLst/>
            <a:gdLst/>
            <a:ahLst/>
            <a:cxnLst/>
            <a:rect r="r" b="b" t="t" l="l"/>
            <a:pathLst>
              <a:path h="874559" w="875024">
                <a:moveTo>
                  <a:pt x="0" y="0"/>
                </a:moveTo>
                <a:lnTo>
                  <a:pt x="875024" y="0"/>
                </a:lnTo>
                <a:lnTo>
                  <a:pt x="87502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4094483" y="7171693"/>
            <a:ext cx="2335286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true">
                <a:solidFill>
                  <a:srgbClr val="454082"/>
                </a:solidFill>
                <a:latin typeface="Roboto Bold"/>
                <a:ea typeface="Roboto Bold"/>
                <a:cs typeface="Roboto Bold"/>
                <a:sym typeface="Roboto Bold"/>
              </a:rPr>
              <a:t>ISSUED VERIFICATION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095061" y="3978795"/>
            <a:ext cx="2277493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true">
                <a:solidFill>
                  <a:srgbClr val="454082"/>
                </a:solidFill>
                <a:latin typeface="Roboto Bold"/>
                <a:ea typeface="Roboto Bold"/>
                <a:cs typeface="Roboto Bold"/>
                <a:sym typeface="Roboto Bold"/>
              </a:rPr>
              <a:t>PRACTICAL PROJECT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296486" y="2930072"/>
            <a:ext cx="887317" cy="54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616" b="true">
                <a:solidFill>
                  <a:srgbClr val="454082"/>
                </a:solidFill>
                <a:latin typeface="Roboto Bold"/>
                <a:ea typeface="Roboto Bold"/>
                <a:cs typeface="Roboto Bold"/>
                <a:sym typeface="Roboto Bold"/>
              </a:rPr>
              <a:t>86%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103632" y="5620426"/>
            <a:ext cx="1420377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true">
                <a:solidFill>
                  <a:srgbClr val="454082"/>
                </a:solidFill>
                <a:latin typeface="Roboto Bold"/>
                <a:ea typeface="Roboto Bold"/>
                <a:cs typeface="Roboto Bold"/>
                <a:sym typeface="Roboto Bold"/>
              </a:rPr>
              <a:t>PEER REVIEW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18886" y="3743357"/>
            <a:ext cx="1086371" cy="223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b="true">
                <a:solidFill>
                  <a:srgbClr val="404040"/>
                </a:solidFill>
                <a:latin typeface="Roboto Bold"/>
                <a:ea typeface="Roboto Bold"/>
                <a:cs typeface="Roboto Bold"/>
                <a:sym typeface="Roboto Bold"/>
              </a:rPr>
              <a:t>EDUCATION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418263" y="6695282"/>
            <a:ext cx="1148722" cy="223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b="true">
                <a:solidFill>
                  <a:srgbClr val="404040"/>
                </a:solidFill>
                <a:latin typeface="Roboto Bold"/>
                <a:ea typeface="Roboto Bold"/>
                <a:cs typeface="Roboto Bold"/>
                <a:sym typeface="Roboto Bold"/>
              </a:rPr>
              <a:t>EXPERIENCE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423358" y="5189198"/>
            <a:ext cx="639217" cy="223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b="true">
                <a:solidFill>
                  <a:srgbClr val="404040"/>
                </a:solidFill>
                <a:latin typeface="Roboto Bold"/>
                <a:ea typeface="Roboto Bold"/>
                <a:cs typeface="Roboto Bold"/>
                <a:sym typeface="Roboto Bold"/>
              </a:rPr>
              <a:t>SKILLS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5258" y="555340"/>
            <a:ext cx="10446837" cy="1788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3"/>
              </a:lnSpc>
            </a:pPr>
            <a:r>
              <a:rPr lang="en-US" sz="6566" spc="-131" b="true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Qudra makes demonstrated capability </a:t>
            </a:r>
            <a:r>
              <a:rPr lang="en-US" sz="6566" spc="-131" b="true">
                <a:solidFill>
                  <a:srgbClr val="6649D6"/>
                </a:solidFill>
                <a:latin typeface="Roboto Bold"/>
                <a:ea typeface="Roboto Bold"/>
                <a:cs typeface="Roboto Bold"/>
                <a:sym typeface="Roboto Bold"/>
              </a:rPr>
              <a:t>easier to evaluate.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5748" y="2589208"/>
            <a:ext cx="10397853" cy="483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102">
                <a:solidFill>
                  <a:srgbClr val="F1F1F1"/>
                </a:solidFill>
                <a:latin typeface="Roboto"/>
                <a:ea typeface="Roboto"/>
                <a:cs typeface="Roboto"/>
                <a:sym typeface="Roboto"/>
              </a:rPr>
              <a:t>From what people say they know, to what they </a:t>
            </a:r>
            <a:r>
              <a:rPr lang="en-US" sz="3102" b="true">
                <a:solidFill>
                  <a:srgbClr val="19A899"/>
                </a:solidFill>
                <a:latin typeface="Roboto Bold"/>
                <a:ea typeface="Roboto Bold"/>
                <a:cs typeface="Roboto Bold"/>
                <a:sym typeface="Roboto Bold"/>
              </a:rPr>
              <a:t>can prove.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3421712"/>
            <a:ext cx="3926670" cy="3224936"/>
          </a:xfrm>
          <a:custGeom>
            <a:avLst/>
            <a:gdLst/>
            <a:ahLst/>
            <a:cxnLst/>
            <a:rect r="r" b="b" t="t" l="l"/>
            <a:pathLst>
              <a:path h="3224936" w="3926670">
                <a:moveTo>
                  <a:pt x="0" y="0"/>
                </a:moveTo>
                <a:lnTo>
                  <a:pt x="3926670" y="0"/>
                </a:lnTo>
                <a:lnTo>
                  <a:pt x="392667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72392" y="4004927"/>
            <a:ext cx="1930136" cy="4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b="true" sz="2759" spc="-55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CANDIDATE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4380" y="4949587"/>
            <a:ext cx="3106161" cy="1132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spc="-47">
                <a:solidFill>
                  <a:srgbClr val="F1F1F1"/>
                </a:solidFill>
                <a:latin typeface="Roboto"/>
                <a:ea typeface="Roboto"/>
                <a:cs typeface="Roboto"/>
                <a:sym typeface="Roboto"/>
              </a:rPr>
              <a:t>Practice and participate</a:t>
            </a:r>
          </a:p>
          <a:p>
            <a:pPr algn="ctr">
              <a:lnSpc>
                <a:spcPts val="3055"/>
              </a:lnSpc>
            </a:pPr>
            <a:r>
              <a:rPr lang="en-US" sz="2351" spc="-47">
                <a:solidFill>
                  <a:srgbClr val="F1F1F1"/>
                </a:solidFill>
                <a:latin typeface="Roboto"/>
                <a:ea typeface="Roboto"/>
                <a:cs typeface="Roboto"/>
                <a:sym typeface="Roboto"/>
              </a:rPr>
              <a:t>in structured</a:t>
            </a:r>
          </a:p>
          <a:p>
            <a:pPr algn="ctr">
              <a:lnSpc>
                <a:spcPts val="3055"/>
              </a:lnSpc>
            </a:pPr>
            <a:r>
              <a:rPr lang="en-US" sz="2351" spc="-47">
                <a:solidFill>
                  <a:srgbClr val="F1F1F1"/>
                </a:solidFill>
                <a:latin typeface="Roboto"/>
                <a:ea typeface="Roboto"/>
                <a:cs typeface="Roboto"/>
                <a:sym typeface="Roboto"/>
              </a:rPr>
              <a:t>challenges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353244" y="4711687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998574" y="3421712"/>
            <a:ext cx="3937608" cy="3224936"/>
          </a:xfrm>
          <a:custGeom>
            <a:avLst/>
            <a:gdLst/>
            <a:ahLst/>
            <a:cxnLst/>
            <a:rect r="r" b="b" t="t" l="l"/>
            <a:pathLst>
              <a:path h="3224936" w="3937608">
                <a:moveTo>
                  <a:pt x="0" y="0"/>
                </a:moveTo>
                <a:lnTo>
                  <a:pt x="3937608" y="0"/>
                </a:lnTo>
                <a:lnTo>
                  <a:pt x="393760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886970" y="4004927"/>
            <a:ext cx="1984922" cy="4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b="true" sz="2759" spc="-55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CHALLENGE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07847" y="4949587"/>
            <a:ext cx="2743169" cy="1132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spc="-47">
                <a:solidFill>
                  <a:srgbClr val="F1F1F1"/>
                </a:solidFill>
                <a:latin typeface="Roboto"/>
                <a:ea typeface="Roboto"/>
                <a:cs typeface="Roboto"/>
                <a:sym typeface="Roboto"/>
              </a:rPr>
              <a:t>Complete structured, multi-phase</a:t>
            </a:r>
          </a:p>
          <a:p>
            <a:pPr algn="ctr">
              <a:lnSpc>
                <a:spcPts val="3055"/>
              </a:lnSpc>
            </a:pPr>
            <a:r>
              <a:rPr lang="en-US" sz="2351" spc="-47">
                <a:solidFill>
                  <a:srgbClr val="F1F1F1"/>
                </a:solidFill>
                <a:latin typeface="Roboto"/>
                <a:ea typeface="Roboto"/>
                <a:cs typeface="Roboto"/>
                <a:sym typeface="Roboto"/>
              </a:rPr>
              <a:t>submissions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706488" y="4711687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351818" y="3421712"/>
            <a:ext cx="3937608" cy="3224936"/>
          </a:xfrm>
          <a:custGeom>
            <a:avLst/>
            <a:gdLst/>
            <a:ahLst/>
            <a:cxnLst/>
            <a:rect r="r" b="b" t="t" l="l"/>
            <a:pathLst>
              <a:path h="3224936" w="3937608">
                <a:moveTo>
                  <a:pt x="0" y="0"/>
                </a:moveTo>
                <a:lnTo>
                  <a:pt x="3937608" y="0"/>
                </a:lnTo>
                <a:lnTo>
                  <a:pt x="393760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880838" y="3985558"/>
            <a:ext cx="2670414" cy="861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b="true" sz="2654" spc="-53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DEMONSTRATED EVIDENCE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59700" y="5160439"/>
            <a:ext cx="2912690" cy="75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spc="-47">
                <a:solidFill>
                  <a:srgbClr val="F1F1F1"/>
                </a:solidFill>
                <a:latin typeface="Roboto"/>
                <a:ea typeface="Roboto"/>
                <a:cs typeface="Roboto"/>
                <a:sym typeface="Roboto"/>
              </a:rPr>
              <a:t>Build a clear, verifiable record of capability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059732" y="4711687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716000" y="3421712"/>
            <a:ext cx="3926670" cy="3224936"/>
          </a:xfrm>
          <a:custGeom>
            <a:avLst/>
            <a:gdLst/>
            <a:ahLst/>
            <a:cxnLst/>
            <a:rect r="r" b="b" t="t" l="l"/>
            <a:pathLst>
              <a:path h="3224936" w="3926670">
                <a:moveTo>
                  <a:pt x="0" y="0"/>
                </a:moveTo>
                <a:lnTo>
                  <a:pt x="3926670" y="0"/>
                </a:lnTo>
                <a:lnTo>
                  <a:pt x="392667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534603" y="4014452"/>
            <a:ext cx="2048968" cy="79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b="true" sz="2654" spc="-53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EMPLOYER </a:t>
            </a:r>
          </a:p>
          <a:p>
            <a:pPr algn="ctr">
              <a:lnSpc>
                <a:spcPts val="3185"/>
              </a:lnSpc>
            </a:pPr>
            <a:r>
              <a:rPr lang="en-US" b="true" sz="2654" spc="-53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EVALUATION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74752" y="5085135"/>
            <a:ext cx="2568672" cy="1132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spc="-47">
                <a:solidFill>
                  <a:srgbClr val="F1F1F1"/>
                </a:solidFill>
                <a:latin typeface="Roboto"/>
                <a:ea typeface="Roboto"/>
                <a:cs typeface="Roboto"/>
                <a:sym typeface="Roboto"/>
              </a:rPr>
              <a:t>Review and assess evidence to make confident decisions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21396" y="7418202"/>
            <a:ext cx="2869733" cy="40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b="true">
                <a:solidFill>
                  <a:srgbClr val="6649D6"/>
                </a:solidFill>
                <a:latin typeface="Roboto Bold"/>
                <a:ea typeface="Roboto Bold"/>
                <a:cs typeface="Roboto Bold"/>
                <a:sym typeface="Roboto Bold"/>
              </a:rPr>
              <a:t>FOR CANDIDATES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0094" y="7947836"/>
            <a:ext cx="7206258" cy="147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387">
                <a:solidFill>
                  <a:srgbClr val="F1F1F1"/>
                </a:solidFill>
                <a:latin typeface="Roboto"/>
                <a:ea typeface="Roboto"/>
                <a:cs typeface="Roboto"/>
                <a:sym typeface="Roboto"/>
              </a:rPr>
              <a:t>Practice and participate in structured challenges</a:t>
            </a:r>
          </a:p>
          <a:p>
            <a:pPr algn="l">
              <a:lnSpc>
                <a:spcPts val="4059"/>
              </a:lnSpc>
            </a:pPr>
            <a:r>
              <a:rPr lang="en-US" sz="2387">
                <a:solidFill>
                  <a:srgbClr val="F1F1F1"/>
                </a:solidFill>
                <a:latin typeface="Roboto"/>
                <a:ea typeface="Roboto"/>
                <a:cs typeface="Roboto"/>
                <a:sym typeface="Roboto"/>
              </a:rPr>
              <a:t>Demonstrate skills through multi-phase submissions</a:t>
            </a:r>
          </a:p>
          <a:p>
            <a:pPr algn="l">
              <a:lnSpc>
                <a:spcPts val="4059"/>
              </a:lnSpc>
            </a:pPr>
            <a:r>
              <a:rPr lang="en-US" sz="2387">
                <a:solidFill>
                  <a:srgbClr val="F1F1F1"/>
                </a:solidFill>
                <a:latin typeface="Roboto"/>
                <a:ea typeface="Roboto"/>
                <a:cs typeface="Roboto"/>
                <a:sym typeface="Roboto"/>
              </a:rPr>
              <a:t>Build a clear, verifiable record of capability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706488" y="7280704"/>
            <a:ext cx="229694" cy="2372241"/>
          </a:xfrm>
          <a:custGeom>
            <a:avLst/>
            <a:gdLst/>
            <a:ahLst/>
            <a:cxnLst/>
            <a:rect r="r" b="b" t="t" l="l"/>
            <a:pathLst>
              <a:path h="2372241" w="229694">
                <a:moveTo>
                  <a:pt x="0" y="0"/>
                </a:moveTo>
                <a:lnTo>
                  <a:pt x="229694" y="0"/>
                </a:lnTo>
                <a:lnTo>
                  <a:pt x="22969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455833" y="7418202"/>
            <a:ext cx="2749535" cy="40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b="true">
                <a:solidFill>
                  <a:srgbClr val="19A899"/>
                </a:solidFill>
                <a:latin typeface="Roboto Bold"/>
                <a:ea typeface="Roboto Bold"/>
                <a:cs typeface="Roboto Bold"/>
                <a:sym typeface="Roboto Bold"/>
              </a:rPr>
              <a:t>FOR EMPLOYERS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83328" y="7945726"/>
            <a:ext cx="7206258" cy="147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6"/>
              </a:lnSpc>
            </a:pPr>
            <a:r>
              <a:rPr lang="en-US" sz="2321">
                <a:solidFill>
                  <a:srgbClr val="F1F1F1"/>
                </a:solidFill>
                <a:latin typeface="Roboto"/>
                <a:ea typeface="Roboto"/>
                <a:cs typeface="Roboto"/>
                <a:sym typeface="Roboto"/>
              </a:rPr>
              <a:t>Create structured, multi-phase challenges</a:t>
            </a:r>
          </a:p>
          <a:p>
            <a:pPr algn="l">
              <a:lnSpc>
                <a:spcPts val="3946"/>
              </a:lnSpc>
            </a:pPr>
            <a:r>
              <a:rPr lang="en-US" sz="2321">
                <a:solidFill>
                  <a:srgbClr val="F1F1F1"/>
                </a:solidFill>
                <a:latin typeface="Roboto"/>
                <a:ea typeface="Roboto"/>
                <a:cs typeface="Roboto"/>
                <a:sym typeface="Roboto"/>
              </a:rPr>
              <a:t>Review submissions and assessment evidence</a:t>
            </a:r>
          </a:p>
          <a:p>
            <a:pPr algn="l">
              <a:lnSpc>
                <a:spcPts val="3946"/>
              </a:lnSpc>
            </a:pPr>
            <a:r>
              <a:rPr lang="en-US" sz="2321">
                <a:solidFill>
                  <a:srgbClr val="F1F1F1"/>
                </a:solidFill>
                <a:latin typeface="Roboto"/>
                <a:ea typeface="Roboto"/>
                <a:cs typeface="Roboto"/>
                <a:sym typeface="Roboto"/>
              </a:rPr>
              <a:t>Discover candidates with relevant demonstrated skills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1556" y="532568"/>
            <a:ext cx="10101396" cy="181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6"/>
              </a:lnSpc>
            </a:pPr>
            <a:r>
              <a:rPr lang="en-US" sz="6480" spc="-129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A structured path</a:t>
            </a:r>
          </a:p>
          <a:p>
            <a:pPr algn="l">
              <a:lnSpc>
                <a:spcPts val="7126"/>
              </a:lnSpc>
            </a:pPr>
            <a:r>
              <a:rPr lang="en-US" sz="6480" spc="-129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from challenge to </a:t>
            </a:r>
            <a:r>
              <a:rPr lang="en-US" sz="6480" spc="-129" b="true">
                <a:solidFill>
                  <a:srgbClr val="514DD8"/>
                </a:solidFill>
                <a:latin typeface="Roboto Bold"/>
                <a:ea typeface="Roboto Bold"/>
                <a:cs typeface="Roboto Bold"/>
                <a:sym typeface="Roboto Bold"/>
              </a:rPr>
              <a:t>evidence</a:t>
            </a:r>
            <a:r>
              <a:rPr lang="en-US" sz="6480" spc="-129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2776725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54619" y="3276471"/>
            <a:ext cx="2410017" cy="544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company creates</a:t>
            </a:r>
          </a:p>
          <a:p>
            <a:pPr algn="l">
              <a:lnSpc>
                <a:spcPts val="2236"/>
              </a:lnSpc>
            </a:pPr>
            <a:r>
              <a:rPr lang="en-US" sz="1863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multi-phase challenge.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915732" y="2995365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998574" y="2776725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16711" y="2858423"/>
            <a:ext cx="401836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2321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79281" y="2858423"/>
            <a:ext cx="2411016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b="true" sz="2321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DEMONSTRATE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55330" y="3276471"/>
            <a:ext cx="2395078" cy="812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candidate completes challenge phases with submissions.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268976" y="2995365"/>
            <a:ext cx="1093780" cy="437279"/>
          </a:xfrm>
          <a:custGeom>
            <a:avLst/>
            <a:gdLst/>
            <a:ahLst/>
            <a:cxnLst/>
            <a:rect r="r" b="b" t="t" l="l"/>
            <a:pathLst>
              <a:path h="437279" w="1093780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351818" y="2776725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429750" y="2858423"/>
            <a:ext cx="401836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2321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95005" y="3276471"/>
            <a:ext cx="2410398" cy="81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1"/>
              </a:lnSpc>
            </a:pPr>
            <a:r>
              <a:rPr lang="en-US" sz="1784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ai-assisted review evaluates submissions and understanding.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622220" y="2995365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716000" y="2776725"/>
            <a:ext cx="437512" cy="655919"/>
          </a:xfrm>
          <a:custGeom>
            <a:avLst/>
            <a:gdLst/>
            <a:ahLst/>
            <a:cxnLst/>
            <a:rect r="r" b="b" t="t" l="l"/>
            <a:pathLst>
              <a:path h="655919" w="437512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303237" y="3276471"/>
            <a:ext cx="2891166" cy="544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employer reviews evidence and discovers talent.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0" y="4285339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26574" y="4285339"/>
            <a:ext cx="4364182" cy="4077631"/>
          </a:xfrm>
          <a:custGeom>
            <a:avLst/>
            <a:gdLst/>
            <a:ahLst/>
            <a:cxnLst/>
            <a:rect r="r" b="b" t="t" l="l"/>
            <a:pathLst>
              <a:path h="4077631" w="4364182">
                <a:moveTo>
                  <a:pt x="0" y="0"/>
                </a:moveTo>
                <a:lnTo>
                  <a:pt x="4364182" y="0"/>
                </a:lnTo>
                <a:lnTo>
                  <a:pt x="4364182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59929" y="4490864"/>
            <a:ext cx="2411004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Data Analysis Challenge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0658" y="6891073"/>
            <a:ext cx="1338132" cy="54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4"/>
              </a:lnSpc>
            </a:pPr>
            <a:r>
              <a:rPr lang="en-US" sz="1195" b="true">
                <a:solidFill>
                  <a:srgbClr val="51515D"/>
                </a:solidFill>
                <a:latin typeface="Roboto Bold"/>
                <a:ea typeface="Roboto Bold"/>
                <a:cs typeface="Roboto Bold"/>
                <a:sym typeface="Roboto Bold"/>
              </a:rPr>
              <a:t>Phase 3</a:t>
            </a:r>
          </a:p>
          <a:p>
            <a:pPr algn="l">
              <a:lnSpc>
                <a:spcPts val="1434"/>
              </a:lnSpc>
            </a:pPr>
            <a:r>
              <a:rPr lang="en-US" sz="1195" b="true">
                <a:solidFill>
                  <a:srgbClr val="51515D"/>
                </a:solidFill>
                <a:latin typeface="Roboto Bold"/>
                <a:ea typeface="Roboto Bold"/>
                <a:cs typeface="Roboto Bold"/>
                <a:sym typeface="Roboto Bold"/>
              </a:rPr>
              <a:t>Insights &amp; Recommendations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2384440" y="5356674"/>
            <a:ext cx="1979742" cy="644987"/>
          </a:xfrm>
          <a:custGeom>
            <a:avLst/>
            <a:gdLst/>
            <a:ahLst/>
            <a:cxnLst/>
            <a:rect r="r" b="b" t="t" l="l"/>
            <a:pathLst>
              <a:path h="644987" w="1979742">
                <a:moveTo>
                  <a:pt x="0" y="0"/>
                </a:moveTo>
                <a:lnTo>
                  <a:pt x="1979742" y="0"/>
                </a:lnTo>
                <a:lnTo>
                  <a:pt x="197974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384440" y="6854356"/>
            <a:ext cx="1979742" cy="863627"/>
          </a:xfrm>
          <a:custGeom>
            <a:avLst/>
            <a:gdLst/>
            <a:ahLst/>
            <a:cxnLst/>
            <a:rect r="r" b="b" t="t" l="l"/>
            <a:pathLst>
              <a:path h="863627" w="1979742">
                <a:moveTo>
                  <a:pt x="0" y="0"/>
                </a:moveTo>
                <a:lnTo>
                  <a:pt x="1979742" y="0"/>
                </a:lnTo>
                <a:lnTo>
                  <a:pt x="197974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217330" y="4285339"/>
            <a:ext cx="3926670" cy="4077631"/>
          </a:xfrm>
          <a:custGeom>
            <a:avLst/>
            <a:gdLst/>
            <a:ahLst/>
            <a:cxnLst/>
            <a:rect r="r" b="b" t="t" l="l"/>
            <a:pathLst>
              <a:path h="4077631" w="3926670">
                <a:moveTo>
                  <a:pt x="0" y="0"/>
                </a:moveTo>
                <a:lnTo>
                  <a:pt x="3926670" y="0"/>
                </a:lnTo>
                <a:lnTo>
                  <a:pt x="3926670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468137" y="4490863"/>
            <a:ext cx="2362071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Phase 1  Data Cleaning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5654842" y="556438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6093744" y="5550657"/>
            <a:ext cx="1416181" cy="402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b="true">
                <a:solidFill>
                  <a:srgbClr val="51515D"/>
                </a:solidFill>
                <a:latin typeface="Roboto Bold"/>
                <a:ea typeface="Roboto Bold"/>
                <a:cs typeface="Roboto Bold"/>
                <a:sym typeface="Roboto Bold"/>
              </a:rPr>
              <a:t>cleaned_data.csv</a:t>
            </a:r>
          </a:p>
          <a:p>
            <a:pPr algn="l">
              <a:lnSpc>
                <a:spcPts val="1603"/>
              </a:lnSpc>
            </a:pPr>
            <a:r>
              <a:rPr lang="en-US" sz="1335">
                <a:solidFill>
                  <a:srgbClr val="51515D"/>
                </a:solidFill>
                <a:latin typeface="Roboto"/>
                <a:ea typeface="Roboto"/>
                <a:cs typeface="Roboto"/>
                <a:sym typeface="Roboto"/>
              </a:rPr>
              <a:t>CSV + 24 KB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8268976" y="5564382"/>
            <a:ext cx="448450" cy="229572"/>
          </a:xfrm>
          <a:custGeom>
            <a:avLst/>
            <a:gdLst/>
            <a:ahLst/>
            <a:cxnLst/>
            <a:rect r="r" b="b" t="t" l="l"/>
            <a:pathLst>
              <a:path h="229572" w="448450">
                <a:moveTo>
                  <a:pt x="0" y="0"/>
                </a:moveTo>
                <a:lnTo>
                  <a:pt x="448450" y="0"/>
                </a:lnTo>
                <a:lnTo>
                  <a:pt x="448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5655215" y="6755525"/>
            <a:ext cx="2406645" cy="402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b="true">
                <a:solidFill>
                  <a:srgbClr val="51515D"/>
                </a:solidFill>
                <a:latin typeface="Roboto Bold"/>
                <a:ea typeface="Roboto Bold"/>
                <a:cs typeface="Roboto Bold"/>
                <a:sym typeface="Roboto Bold"/>
              </a:rPr>
              <a:t>Explained the complete steps and assumptions.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6311110" y="7707051"/>
            <a:ext cx="1750048" cy="437279"/>
          </a:xfrm>
          <a:custGeom>
            <a:avLst/>
            <a:gdLst/>
            <a:ahLst/>
            <a:cxnLst/>
            <a:rect r="r" b="b" t="t" l="l"/>
            <a:pathLst>
              <a:path h="437279" w="1750048">
                <a:moveTo>
                  <a:pt x="0" y="0"/>
                </a:moveTo>
                <a:lnTo>
                  <a:pt x="1750048" y="0"/>
                </a:lnTo>
                <a:lnTo>
                  <a:pt x="1750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570574" y="4285339"/>
            <a:ext cx="3718852" cy="4077631"/>
          </a:xfrm>
          <a:custGeom>
            <a:avLst/>
            <a:gdLst/>
            <a:ahLst/>
            <a:cxnLst/>
            <a:rect r="r" b="b" t="t" l="l"/>
            <a:pathLst>
              <a:path h="4077631" w="3718852">
                <a:moveTo>
                  <a:pt x="0" y="0"/>
                </a:moveTo>
                <a:lnTo>
                  <a:pt x="3718852" y="0"/>
                </a:lnTo>
                <a:lnTo>
                  <a:pt x="3718852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841287" y="4490863"/>
            <a:ext cx="1708786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AI-assist Review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9789330" y="5356674"/>
            <a:ext cx="2406316" cy="218640"/>
          </a:xfrm>
          <a:custGeom>
            <a:avLst/>
            <a:gdLst/>
            <a:ahLst/>
            <a:cxnLst/>
            <a:rect r="r" b="b" t="t" l="l"/>
            <a:pathLst>
              <a:path h="218640" w="2406316">
                <a:moveTo>
                  <a:pt x="0" y="0"/>
                </a:moveTo>
                <a:lnTo>
                  <a:pt x="2406316" y="0"/>
                </a:lnTo>
                <a:lnTo>
                  <a:pt x="240631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9845607" y="5821753"/>
            <a:ext cx="1276794" cy="2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b="true">
                <a:solidFill>
                  <a:srgbClr val="51515D">
                    <a:alpha val="4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Solution quality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9789330" y="5990729"/>
            <a:ext cx="2406316" cy="448211"/>
          </a:xfrm>
          <a:custGeom>
            <a:avLst/>
            <a:gdLst/>
            <a:ahLst/>
            <a:cxnLst/>
            <a:rect r="r" b="b" t="t" l="l"/>
            <a:pathLst>
              <a:path h="448211" w="2406316">
                <a:moveTo>
                  <a:pt x="0" y="0"/>
                </a:moveTo>
                <a:lnTo>
                  <a:pt x="2406316" y="0"/>
                </a:lnTo>
                <a:lnTo>
                  <a:pt x="240631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9789330" y="6635716"/>
            <a:ext cx="2406316" cy="437279"/>
          </a:xfrm>
          <a:custGeom>
            <a:avLst/>
            <a:gdLst/>
            <a:ahLst/>
            <a:cxnLst/>
            <a:rect r="r" b="b" t="t" l="l"/>
            <a:pathLst>
              <a:path h="437279" w="2406316">
                <a:moveTo>
                  <a:pt x="0" y="0"/>
                </a:moveTo>
                <a:lnTo>
                  <a:pt x="2406316" y="0"/>
                </a:lnTo>
                <a:lnTo>
                  <a:pt x="240631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789330" y="7499343"/>
            <a:ext cx="3281340" cy="644987"/>
          </a:xfrm>
          <a:custGeom>
            <a:avLst/>
            <a:gdLst/>
            <a:ahLst/>
            <a:cxnLst/>
            <a:rect r="r" b="b" t="t" l="l"/>
            <a:pathLst>
              <a:path h="644987" w="3281340">
                <a:moveTo>
                  <a:pt x="0" y="0"/>
                </a:moveTo>
                <a:lnTo>
                  <a:pt x="3281340" y="0"/>
                </a:lnTo>
                <a:lnTo>
                  <a:pt x="328134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3716000" y="4285339"/>
            <a:ext cx="3926670" cy="4077631"/>
          </a:xfrm>
          <a:custGeom>
            <a:avLst/>
            <a:gdLst/>
            <a:ahLst/>
            <a:cxnLst/>
            <a:rect r="r" b="b" t="t" l="l"/>
            <a:pathLst>
              <a:path h="4077631" w="3926670">
                <a:moveTo>
                  <a:pt x="0" y="0"/>
                </a:moveTo>
                <a:lnTo>
                  <a:pt x="3926670" y="0"/>
                </a:lnTo>
                <a:lnTo>
                  <a:pt x="3926670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3966299" y="4490863"/>
            <a:ext cx="1759133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Candidate profile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3923818" y="4919394"/>
            <a:ext cx="667206" cy="874559"/>
          </a:xfrm>
          <a:custGeom>
            <a:avLst/>
            <a:gdLst/>
            <a:ahLst/>
            <a:cxnLst/>
            <a:rect r="r" b="b" t="t" l="l"/>
            <a:pathLst>
              <a:path h="874559" w="667206">
                <a:moveTo>
                  <a:pt x="0" y="0"/>
                </a:moveTo>
                <a:lnTo>
                  <a:pt x="667206" y="0"/>
                </a:lnTo>
                <a:lnTo>
                  <a:pt x="66720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4690731" y="5098832"/>
            <a:ext cx="1646418" cy="402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b="true">
                <a:solidFill>
                  <a:srgbClr val="4DA6A6"/>
                </a:solidFill>
                <a:latin typeface="Roboto Bold"/>
                <a:ea typeface="Roboto Bold"/>
                <a:cs typeface="Roboto Bold"/>
                <a:sym typeface="Roboto Bold"/>
              </a:rPr>
              <a:t>Strong performance </a:t>
            </a:r>
            <a:r>
              <a:rPr lang="en-US" sz="1335" b="true">
                <a:solidFill>
                  <a:srgbClr val="51515D"/>
                </a:solidFill>
                <a:latin typeface="Roboto Bold"/>
                <a:ea typeface="Roboto Bold"/>
                <a:cs typeface="Roboto Bold"/>
                <a:sym typeface="Roboto Bold"/>
              </a:rPr>
              <a:t>across all phases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967981" y="5821753"/>
            <a:ext cx="1590948" cy="2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b="true">
                <a:solidFill>
                  <a:srgbClr val="51515D"/>
                </a:solidFill>
                <a:latin typeface="Roboto Bold"/>
                <a:ea typeface="Roboto Bold"/>
                <a:cs typeface="Roboto Bold"/>
                <a:sym typeface="Roboto Bold"/>
              </a:rPr>
              <a:t>Challenge progress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14142574" y="5990729"/>
            <a:ext cx="3062584" cy="655919"/>
          </a:xfrm>
          <a:custGeom>
            <a:avLst/>
            <a:gdLst/>
            <a:ahLst/>
            <a:cxnLst/>
            <a:rect r="r" b="b" t="t" l="l"/>
            <a:pathLst>
              <a:path h="655919" w="3062584">
                <a:moveTo>
                  <a:pt x="0" y="0"/>
                </a:moveTo>
                <a:lnTo>
                  <a:pt x="3062584" y="0"/>
                </a:lnTo>
                <a:lnTo>
                  <a:pt x="306258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3923818" y="7062064"/>
            <a:ext cx="3500096" cy="1082267"/>
          </a:xfrm>
          <a:custGeom>
            <a:avLst/>
            <a:gdLst/>
            <a:ahLst/>
            <a:cxnLst/>
            <a:rect r="r" b="b" t="t" l="l"/>
            <a:pathLst>
              <a:path h="1082267" w="3500096">
                <a:moveTo>
                  <a:pt x="0" y="0"/>
                </a:moveTo>
                <a:lnTo>
                  <a:pt x="3500096" y="0"/>
                </a:lnTo>
                <a:lnTo>
                  <a:pt x="350009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426574" y="8352038"/>
            <a:ext cx="17216096" cy="1727254"/>
          </a:xfrm>
          <a:custGeom>
            <a:avLst/>
            <a:gdLst/>
            <a:ahLst/>
            <a:cxnLst/>
            <a:rect r="r" b="b" t="t" l="l"/>
            <a:pathLst>
              <a:path h="1727254" w="17216096">
                <a:moveTo>
                  <a:pt x="0" y="0"/>
                </a:moveTo>
                <a:lnTo>
                  <a:pt x="17216096" y="0"/>
                </a:lnTo>
                <a:lnTo>
                  <a:pt x="1721609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864086" y="8778386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2267552" y="8690109"/>
            <a:ext cx="8988584" cy="1014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candidates advance by earning it.</a:t>
            </a:r>
          </a:p>
          <a:p>
            <a:pPr algn="l">
              <a:lnSpc>
                <a:spcPts val="2780"/>
              </a:lnSpc>
            </a:pPr>
            <a:r>
              <a:rPr lang="en-US" sz="1986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Unlock the next phase only after saving a valid submission for the prior phase. Complete the challenge only by passing all required phases.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74142" y="5897057"/>
            <a:ext cx="989683" cy="54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65" b="true">
                <a:solidFill>
                  <a:srgbClr val="51515D"/>
                </a:solidFill>
                <a:latin typeface="Roboto Bold"/>
                <a:ea typeface="Roboto Bold"/>
                <a:cs typeface="Roboto Bold"/>
                <a:sym typeface="Roboto Bold"/>
              </a:rPr>
              <a:t>Phase 2</a:t>
            </a:r>
          </a:p>
          <a:p>
            <a:pPr algn="l">
              <a:lnSpc>
                <a:spcPts val="1519"/>
              </a:lnSpc>
            </a:pPr>
            <a:r>
              <a:rPr lang="en-US" sz="1265">
                <a:solidFill>
                  <a:srgbClr val="51515D"/>
                </a:solidFill>
                <a:latin typeface="Roboto"/>
                <a:ea typeface="Roboto"/>
                <a:cs typeface="Roboto"/>
                <a:sym typeface="Roboto"/>
              </a:rPr>
              <a:t>Exploratory A Analysis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73702" y="5098833"/>
            <a:ext cx="1033698" cy="366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65" b="true">
                <a:solidFill>
                  <a:srgbClr val="51515D"/>
                </a:solidFill>
                <a:latin typeface="Roboto Bold"/>
                <a:ea typeface="Roboto Bold"/>
                <a:cs typeface="Roboto Bold"/>
                <a:sym typeface="Roboto Bold"/>
              </a:rPr>
              <a:t>Phase 1</a:t>
            </a:r>
          </a:p>
          <a:p>
            <a:pPr algn="l">
              <a:lnSpc>
                <a:spcPts val="1519"/>
              </a:lnSpc>
            </a:pPr>
            <a:r>
              <a:rPr lang="en-US" sz="1265">
                <a:solidFill>
                  <a:srgbClr val="514DD8"/>
                </a:solidFill>
                <a:latin typeface="Roboto"/>
                <a:ea typeface="Roboto"/>
                <a:cs typeface="Roboto"/>
                <a:sym typeface="Roboto"/>
              </a:rPr>
              <a:t>Data Cleaning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332148" y="2858423"/>
            <a:ext cx="2411016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b="true" sz="2321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DISCOVER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246303" y="7348434"/>
            <a:ext cx="1050371" cy="4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b="true" sz="2759">
                <a:solidFill>
                  <a:srgbClr val="4945A6"/>
                </a:solidFill>
                <a:latin typeface="Roboto Bold"/>
                <a:ea typeface="Roboto Bold"/>
                <a:cs typeface="Roboto Bold"/>
                <a:sym typeface="Roboto Bold"/>
              </a:rPr>
              <a:t>4.7 / 5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474436" y="6303699"/>
            <a:ext cx="1732201" cy="2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b="true">
                <a:solidFill>
                  <a:srgbClr val="51515D"/>
                </a:solidFill>
                <a:latin typeface="Roboto Bold"/>
                <a:ea typeface="Roboto Bold"/>
                <a:cs typeface="Roboto Bold"/>
                <a:sym typeface="Roboto Bold"/>
              </a:rPr>
              <a:t>Comments (optional)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019109" y="2858423"/>
            <a:ext cx="2411016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b="true" sz="2321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ASSESS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842346" y="7222411"/>
            <a:ext cx="1602860" cy="2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b="true">
                <a:solidFill>
                  <a:srgbClr val="51515D"/>
                </a:solidFill>
                <a:latin typeface="Roboto Bold"/>
                <a:ea typeface="Roboto Bold"/>
                <a:cs typeface="Roboto Bold"/>
                <a:sym typeface="Roboto Bold"/>
              </a:rPr>
              <a:t>Feedback summary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469058" y="7839905"/>
            <a:ext cx="1389513" cy="2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Save submission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78719" y="2858423"/>
            <a:ext cx="2411016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b="true" sz="2321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DEFINE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5632272" y="7433262"/>
            <a:ext cx="1254037" cy="2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b="true">
                <a:solidFill>
                  <a:srgbClr val="51515D"/>
                </a:solidFill>
                <a:latin typeface="Roboto Bold"/>
                <a:ea typeface="Roboto Bold"/>
                <a:cs typeface="Roboto Bold"/>
                <a:sym typeface="Roboto Bold"/>
              </a:rPr>
              <a:t>Average Rating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967771" y="6906133"/>
            <a:ext cx="1611927" cy="2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b="true">
                <a:solidFill>
                  <a:srgbClr val="51515D"/>
                </a:solidFill>
                <a:latin typeface="Roboto Bold"/>
                <a:ea typeface="Roboto Bold"/>
                <a:cs typeface="Roboto Bold"/>
                <a:sym typeface="Roboto Bold"/>
              </a:rPr>
              <a:t>Overall assessment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478024" y="5098832"/>
            <a:ext cx="1373334" cy="2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b="true">
                <a:solidFill>
                  <a:srgbClr val="51515D">
                    <a:alpha val="4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Your submission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560295" y="6484430"/>
            <a:ext cx="1145497" cy="2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b="true">
                <a:solidFill>
                  <a:srgbClr val="51515D"/>
                </a:solidFill>
                <a:latin typeface="Roboto Bold"/>
                <a:ea typeface="Roboto Bold"/>
                <a:cs typeface="Roboto Bold"/>
                <a:sym typeface="Roboto Bold"/>
              </a:rPr>
              <a:t>Requirements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846369" y="5098832"/>
            <a:ext cx="1200611" cy="2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b="true">
                <a:solidFill>
                  <a:srgbClr val="51515D">
                    <a:alpha val="4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Understanding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848173" y="6514551"/>
            <a:ext cx="1020155" cy="2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b="true">
                <a:solidFill>
                  <a:srgbClr val="51515D">
                    <a:alpha val="4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Code quality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243655" y="7794723"/>
            <a:ext cx="812586" cy="2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b="true">
                <a:solidFill>
                  <a:srgbClr val="4DA6A6"/>
                </a:solidFill>
                <a:latin typeface="Roboto Bold"/>
                <a:ea typeface="Roboto Bold"/>
                <a:cs typeface="Roboto Bold"/>
                <a:sym typeface="Roboto Bold"/>
              </a:rPr>
              <a:t>Advanced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234476" y="5400049"/>
            <a:ext cx="812586" cy="2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b="true">
                <a:solidFill>
                  <a:srgbClr val="4DA6A6"/>
                </a:solidFill>
                <a:latin typeface="Roboto Bold"/>
                <a:ea typeface="Roboto Bold"/>
                <a:cs typeface="Roboto Bold"/>
                <a:sym typeface="Roboto Bold"/>
              </a:rPr>
              <a:t>Advanced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234476" y="6092848"/>
            <a:ext cx="812586" cy="2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b="true">
                <a:solidFill>
                  <a:srgbClr val="4DA6A6"/>
                </a:solidFill>
                <a:latin typeface="Roboto Bold"/>
                <a:ea typeface="Roboto Bold"/>
                <a:cs typeface="Roboto Bold"/>
                <a:sym typeface="Roboto Bold"/>
              </a:rPr>
              <a:t>Advanced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234476" y="6770585"/>
            <a:ext cx="812586" cy="2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b="true">
                <a:solidFill>
                  <a:srgbClr val="4DA6A6"/>
                </a:solidFill>
                <a:latin typeface="Roboto Bold"/>
                <a:ea typeface="Roboto Bold"/>
                <a:cs typeface="Roboto Bold"/>
                <a:sym typeface="Roboto Bold"/>
              </a:rPr>
              <a:t>Advanced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564200" y="5098832"/>
            <a:ext cx="754982" cy="2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b="true">
                <a:solidFill>
                  <a:srgbClr val="51515D">
                    <a:alpha val="4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Overview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8191775" y="7267594"/>
            <a:ext cx="567785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51515D">
                    <a:alpha val="4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48 / 500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4139132" y="6559734"/>
            <a:ext cx="549254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51515D">
                    <a:alpha val="4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Phase 1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5398218" y="6559734"/>
            <a:ext cx="549254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51515D">
                    <a:alpha val="4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Phase 2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6657304" y="6559734"/>
            <a:ext cx="549254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51515D">
                    <a:alpha val="4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Phase 3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8246841" y="5791631"/>
            <a:ext cx="419019" cy="17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4DA6A6"/>
                </a:solidFill>
                <a:latin typeface="Roboto Bold"/>
                <a:ea typeface="Roboto Bold"/>
                <a:cs typeface="Roboto Bold"/>
                <a:sym typeface="Roboto Bold"/>
              </a:rPr>
              <a:t>Saved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457" y="550459"/>
            <a:ext cx="11069117" cy="1008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5"/>
              </a:lnSpc>
            </a:pPr>
            <a:r>
              <a:rPr lang="en-US" sz="6662" spc="-198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Not another resume database.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7342" y="1574596"/>
            <a:ext cx="15880631" cy="1008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5"/>
              </a:lnSpc>
            </a:pPr>
            <a:r>
              <a:rPr lang="en-US" sz="6662" spc="-198" b="true">
                <a:solidFill>
                  <a:srgbClr val="5A54D0"/>
                </a:solidFill>
                <a:latin typeface="Roboto Bold"/>
                <a:ea typeface="Roboto Bold"/>
                <a:cs typeface="Roboto Bold"/>
                <a:sym typeface="Roboto Bold"/>
              </a:rPr>
              <a:t>A structured way to demonstrate capability.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3214004"/>
            <a:ext cx="3718852" cy="3432644"/>
          </a:xfrm>
          <a:custGeom>
            <a:avLst/>
            <a:gdLst/>
            <a:ahLst/>
            <a:cxnLst/>
            <a:rect r="r" b="b" t="t" l="l"/>
            <a:pathLst>
              <a:path h="3432644" w="3718852">
                <a:moveTo>
                  <a:pt x="0" y="0"/>
                </a:moveTo>
                <a:lnTo>
                  <a:pt x="3718852" y="0"/>
                </a:lnTo>
                <a:lnTo>
                  <a:pt x="3718852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9069" y="3683114"/>
            <a:ext cx="1854809" cy="86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spc="-8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Candidate</a:t>
            </a:r>
          </a:p>
          <a:p>
            <a:pPr algn="l">
              <a:lnSpc>
                <a:spcPts val="3475"/>
              </a:lnSpc>
            </a:pPr>
            <a:r>
              <a:rPr lang="en-US" sz="2896" spc="-8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submission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7617" y="4787691"/>
            <a:ext cx="2946797" cy="127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Candidates complete real-world challenges and submit their work.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779818" y="3214004"/>
            <a:ext cx="3718852" cy="3432644"/>
          </a:xfrm>
          <a:custGeom>
            <a:avLst/>
            <a:gdLst/>
            <a:ahLst/>
            <a:cxnLst/>
            <a:rect r="r" b="b" t="t" l="l"/>
            <a:pathLst>
              <a:path h="3432644" w="3718852">
                <a:moveTo>
                  <a:pt x="0" y="0"/>
                </a:moveTo>
                <a:lnTo>
                  <a:pt x="3718852" y="0"/>
                </a:lnTo>
                <a:lnTo>
                  <a:pt x="3718852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338312" y="3683114"/>
            <a:ext cx="1950035" cy="86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spc="-8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AI-assisted</a:t>
            </a:r>
          </a:p>
          <a:p>
            <a:pPr algn="l">
              <a:lnSpc>
                <a:spcPts val="3475"/>
              </a:lnSpc>
            </a:pPr>
            <a:r>
              <a:rPr lang="en-US" sz="2896" spc="-8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assessment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57812" y="4763406"/>
            <a:ext cx="2946797" cy="1421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sz="1922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AI helps review</a:t>
            </a:r>
          </a:p>
          <a:p>
            <a:pPr algn="l">
              <a:lnSpc>
                <a:spcPts val="2883"/>
              </a:lnSpc>
            </a:pPr>
            <a:r>
              <a:rPr lang="en-US" sz="1922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submissions and</a:t>
            </a:r>
          </a:p>
          <a:p>
            <a:pPr algn="l">
              <a:lnSpc>
                <a:spcPts val="2883"/>
              </a:lnSpc>
            </a:pPr>
            <a:r>
              <a:rPr lang="en-US" sz="1922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propose progress</a:t>
            </a:r>
          </a:p>
          <a:p>
            <a:pPr algn="l">
              <a:lnSpc>
                <a:spcPts val="2883"/>
              </a:lnSpc>
            </a:pPr>
            <a:r>
              <a:rPr lang="en-US" sz="1922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decisions.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351818" y="3214004"/>
            <a:ext cx="3500096" cy="3432644"/>
          </a:xfrm>
          <a:custGeom>
            <a:avLst/>
            <a:gdLst/>
            <a:ahLst/>
            <a:cxnLst/>
            <a:rect r="r" b="b" t="t" l="l"/>
            <a:pathLst>
              <a:path h="3432644" w="3500096">
                <a:moveTo>
                  <a:pt x="0" y="0"/>
                </a:moveTo>
                <a:lnTo>
                  <a:pt x="3500096" y="0"/>
                </a:lnTo>
                <a:lnTo>
                  <a:pt x="350009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751581" y="3683114"/>
            <a:ext cx="2642699" cy="86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spc="-8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Defined</a:t>
            </a:r>
          </a:p>
          <a:p>
            <a:pPr algn="l">
              <a:lnSpc>
                <a:spcPts val="3475"/>
              </a:lnSpc>
            </a:pPr>
            <a:r>
              <a:rPr lang="en-US" sz="2896" spc="-8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application rules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78008" y="4787691"/>
            <a:ext cx="2946797" cy="127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Clear rules guide</a:t>
            </a:r>
          </a:p>
          <a:p>
            <a:pPr algn="l">
              <a:lnSpc>
                <a:spcPts val="3482"/>
              </a:lnSpc>
            </a:pPr>
            <a:r>
              <a:rPr lang="en-US" sz="2321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scoring, progression, and eligibility.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716000" y="3214004"/>
            <a:ext cx="3926670" cy="3432644"/>
          </a:xfrm>
          <a:custGeom>
            <a:avLst/>
            <a:gdLst/>
            <a:ahLst/>
            <a:cxnLst/>
            <a:rect r="r" b="b" t="t" l="l"/>
            <a:pathLst>
              <a:path h="3432644" w="3926670">
                <a:moveTo>
                  <a:pt x="0" y="0"/>
                </a:moveTo>
                <a:lnTo>
                  <a:pt x="3926670" y="0"/>
                </a:lnTo>
                <a:lnTo>
                  <a:pt x="3926670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168746" y="3673589"/>
            <a:ext cx="2945719" cy="87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sz="2838" spc="-8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Recorded progress and evidence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98203" y="4787691"/>
            <a:ext cx="2946797" cy="127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Every step is captured, creating a growing evidence trail.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134488" y="4285339"/>
            <a:ext cx="875024" cy="644987"/>
          </a:xfrm>
          <a:custGeom>
            <a:avLst/>
            <a:gdLst/>
            <a:ahLst/>
            <a:cxnLst/>
            <a:rect r="r" b="b" t="t" l="l"/>
            <a:pathLst>
              <a:path h="644987" w="875024">
                <a:moveTo>
                  <a:pt x="0" y="0"/>
                </a:moveTo>
                <a:lnTo>
                  <a:pt x="875024" y="0"/>
                </a:lnTo>
                <a:lnTo>
                  <a:pt x="87502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487732" y="4285339"/>
            <a:ext cx="875024" cy="644987"/>
          </a:xfrm>
          <a:custGeom>
            <a:avLst/>
            <a:gdLst/>
            <a:ahLst/>
            <a:cxnLst/>
            <a:rect r="r" b="b" t="t" l="l"/>
            <a:pathLst>
              <a:path h="644987" w="875024">
                <a:moveTo>
                  <a:pt x="0" y="0"/>
                </a:moveTo>
                <a:lnTo>
                  <a:pt x="875024" y="0"/>
                </a:lnTo>
                <a:lnTo>
                  <a:pt x="87502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840976" y="4285339"/>
            <a:ext cx="875024" cy="644987"/>
          </a:xfrm>
          <a:custGeom>
            <a:avLst/>
            <a:gdLst/>
            <a:ahLst/>
            <a:cxnLst/>
            <a:rect r="r" b="b" t="t" l="l"/>
            <a:pathLst>
              <a:path h="644987" w="875024">
                <a:moveTo>
                  <a:pt x="0" y="0"/>
                </a:moveTo>
                <a:lnTo>
                  <a:pt x="875024" y="0"/>
                </a:lnTo>
                <a:lnTo>
                  <a:pt x="87502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42938" y="7010860"/>
            <a:ext cx="3348633" cy="1625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Employers evaluate candidates on</a:t>
            </a:r>
          </a:p>
          <a:p>
            <a:pPr algn="l">
              <a:lnSpc>
                <a:spcPts val="3282"/>
              </a:lnSpc>
            </a:pPr>
            <a:r>
              <a:rPr lang="en-US" sz="2188" b="true">
                <a:solidFill>
                  <a:srgbClr val="5A54D0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defined tasks,</a:t>
            </a:r>
          </a:p>
          <a:p>
            <a:pPr algn="l">
              <a:lnSpc>
                <a:spcPts val="3282"/>
              </a:lnSpc>
            </a:pPr>
            <a:r>
              <a:rPr lang="en-US" sz="2188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not just self-reported skills.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4353244" y="6854356"/>
            <a:ext cx="218756" cy="1934962"/>
          </a:xfrm>
          <a:custGeom>
            <a:avLst/>
            <a:gdLst/>
            <a:ahLst/>
            <a:cxnLst/>
            <a:rect r="r" b="b" t="t" l="l"/>
            <a:pathLst>
              <a:path h="1934962" w="218756">
                <a:moveTo>
                  <a:pt x="0" y="0"/>
                </a:moveTo>
                <a:lnTo>
                  <a:pt x="218756" y="0"/>
                </a:lnTo>
                <a:lnTo>
                  <a:pt x="218756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063133" y="6968166"/>
            <a:ext cx="3348633" cy="1701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AI supports review and progression decisions</a:t>
            </a:r>
          </a:p>
          <a:p>
            <a:pPr algn="l">
              <a:lnSpc>
                <a:spcPts val="3482"/>
              </a:lnSpc>
            </a:pPr>
            <a:r>
              <a:rPr lang="en-US" sz="2321" b="true">
                <a:solidFill>
                  <a:srgbClr val="5A54D0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but does not guarantee</a:t>
            </a:r>
            <a:r>
              <a:rPr lang="en-US" sz="2321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correctness or fairness.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706488" y="6854356"/>
            <a:ext cx="229694" cy="1934962"/>
          </a:xfrm>
          <a:custGeom>
            <a:avLst/>
            <a:gdLst/>
            <a:ahLst/>
            <a:cxnLst/>
            <a:rect r="r" b="b" t="t" l="l"/>
            <a:pathLst>
              <a:path h="1934962" w="229694">
                <a:moveTo>
                  <a:pt x="0" y="0"/>
                </a:moveTo>
                <a:lnTo>
                  <a:pt x="229694" y="0"/>
                </a:lnTo>
                <a:lnTo>
                  <a:pt x="229694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510117" y="6966901"/>
            <a:ext cx="3455789" cy="1703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2"/>
              </a:lnSpc>
            </a:pPr>
            <a:r>
              <a:rPr lang="en-US" sz="2254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Structured rules bring consistency, transparency, and accountability to</a:t>
            </a:r>
          </a:p>
          <a:p>
            <a:pPr algn="l">
              <a:lnSpc>
                <a:spcPts val="3382"/>
              </a:lnSpc>
            </a:pPr>
            <a:r>
              <a:rPr lang="en-US" sz="2254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every decision.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3278488" y="6854356"/>
            <a:ext cx="229694" cy="1934962"/>
          </a:xfrm>
          <a:custGeom>
            <a:avLst/>
            <a:gdLst/>
            <a:ahLst/>
            <a:cxnLst/>
            <a:rect r="r" b="b" t="t" l="l"/>
            <a:pathLst>
              <a:path h="1934962" w="229694">
                <a:moveTo>
                  <a:pt x="0" y="0"/>
                </a:moveTo>
                <a:lnTo>
                  <a:pt x="229694" y="0"/>
                </a:lnTo>
                <a:lnTo>
                  <a:pt x="229694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957102" y="6956452"/>
            <a:ext cx="3696891" cy="127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Progress and submissions build </a:t>
            </a:r>
            <a:r>
              <a:rPr lang="en-US" sz="2321" b="true">
                <a:solidFill>
                  <a:srgbClr val="5A54D0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richer context</a:t>
            </a:r>
            <a:r>
              <a:rPr lang="en-US" sz="2321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than lists of skills.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426574" y="8997026"/>
            <a:ext cx="17216096" cy="1082267"/>
          </a:xfrm>
          <a:custGeom>
            <a:avLst/>
            <a:gdLst/>
            <a:ahLst/>
            <a:cxnLst/>
            <a:rect r="r" b="b" t="t" l="l"/>
            <a:pathLst>
              <a:path h="1082267" w="17216096">
                <a:moveTo>
                  <a:pt x="0" y="0"/>
                </a:moveTo>
                <a:lnTo>
                  <a:pt x="17216096" y="0"/>
                </a:lnTo>
                <a:lnTo>
                  <a:pt x="1721609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884039" y="9282387"/>
            <a:ext cx="16555641" cy="431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1"/>
              </a:lnSpc>
            </a:pPr>
            <a:r>
              <a:rPr lang="en-US" sz="2387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AI assists but is not the final or unbiased decision-maker. </a:t>
            </a:r>
            <a:r>
              <a:rPr lang="en-US" sz="2387" b="true">
                <a:solidFill>
                  <a:srgbClr val="5A54D0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People make the calls. Systems keep the record.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0820" y="428360"/>
            <a:ext cx="8569539" cy="92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5"/>
              </a:lnSpc>
            </a:pPr>
            <a:r>
              <a:rPr lang="en-US" sz="6985" spc="-208" b="tru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A working product—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0331" y="1362133"/>
            <a:ext cx="7618488" cy="92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5"/>
              </a:lnSpc>
            </a:pPr>
            <a:r>
              <a:rPr lang="en-US" sz="6985" spc="-208" b="true">
                <a:solidFill>
                  <a:srgbClr val="5F4BC7"/>
                </a:solidFill>
                <a:latin typeface="Roboto Bold"/>
                <a:ea typeface="Roboto Bold"/>
                <a:cs typeface="Roboto Bold"/>
                <a:sym typeface="Roboto Bold"/>
              </a:rPr>
              <a:t>not just a concept.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3305175"/>
            <a:ext cx="4528339" cy="576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10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Create and manage structured challenges, track participation, and review submissions.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39000" y="3305175"/>
            <a:ext cx="4607598" cy="57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sz="1784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Candidates complete tasks, submit evidence, and monitor their challenge progress.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06250" y="2743200"/>
            <a:ext cx="3478734" cy="21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b="true" sz="1617" spc="-4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ASSESSMENT &amp; TALENT DISCOVERY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96875" y="3305175"/>
            <a:ext cx="4604268" cy="57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sz="1784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AI-powered assessment evaluates capability and surfaces top talent with verified evidence.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9250" y="5876925"/>
            <a:ext cx="1728058" cy="576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10" spc="-5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Select company</a:t>
            </a:r>
          </a:p>
          <a:p>
            <a:pPr algn="l">
              <a:lnSpc>
                <a:spcPts val="2353"/>
              </a:lnSpc>
            </a:pPr>
            <a:r>
              <a:rPr lang="en-US" sz="1810" spc="-5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account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38750" y="5876925"/>
            <a:ext cx="1781785" cy="576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10" spc="-5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Show structured challenge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96500" y="5876925"/>
            <a:ext cx="1988094" cy="576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10" spc="-5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Switch to</a:t>
            </a:r>
          </a:p>
          <a:p>
            <a:pPr algn="l">
              <a:lnSpc>
                <a:spcPts val="2353"/>
              </a:lnSpc>
            </a:pPr>
            <a:r>
              <a:rPr lang="en-US" sz="1810" spc="-5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candidate account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68250" y="5876925"/>
            <a:ext cx="1622228" cy="576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10" spc="-5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Show progress</a:t>
            </a:r>
          </a:p>
          <a:p>
            <a:pPr algn="l">
              <a:lnSpc>
                <a:spcPts val="2353"/>
              </a:lnSpc>
            </a:pPr>
            <a:r>
              <a:rPr lang="en-US" sz="1810" spc="-5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and evidence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240000" y="5886450"/>
            <a:ext cx="358102" cy="63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4"/>
              </a:lnSpc>
            </a:pPr>
            <a:r>
              <a:rPr lang="en-US" b="true" sz="4724" spc="-140">
                <a:solidFill>
                  <a:srgbClr val="3A9D99"/>
                </a:solidFill>
                <a:latin typeface="Roboto Bold"/>
                <a:ea typeface="Roboto Bold"/>
                <a:cs typeface="Roboto Bold"/>
                <a:sym typeface="Roboto Bold"/>
              </a:rPr>
              <a:t>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16250" y="5876925"/>
            <a:ext cx="2089356" cy="57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sz="1784" spc="-5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Explain assessment and progression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00500" y="8591550"/>
            <a:ext cx="9958177" cy="26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sz="1916" spc="-5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Built as a full-stack web application with AI-provider integration and local SQLite persistence.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39000" y="2743200"/>
            <a:ext cx="3783924" cy="21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b="true" sz="1617" spc="-4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CANDIDATE PROGRESS &amp; SUBMISSIONS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3000" y="2743200"/>
            <a:ext cx="3714473" cy="21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b="true" sz="1617" spc="-4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COMPANY CHALLENGE MANAGEMENT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62500" y="5886450"/>
            <a:ext cx="362336" cy="63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4"/>
              </a:lnSpc>
            </a:pPr>
            <a:r>
              <a:rPr lang="en-US" b="true" sz="4724" spc="-140">
                <a:solidFill>
                  <a:srgbClr val="3A9D99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20250" y="5886450"/>
            <a:ext cx="372317" cy="63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4"/>
              </a:lnSpc>
            </a:pPr>
            <a:r>
              <a:rPr lang="en-US" b="true" sz="4724" spc="-140">
                <a:solidFill>
                  <a:srgbClr val="3A9D99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92000" y="5886450"/>
            <a:ext cx="391069" cy="63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4"/>
              </a:lnSpc>
            </a:pPr>
            <a:r>
              <a:rPr lang="en-US" b="true" sz="4724" spc="-140">
                <a:solidFill>
                  <a:srgbClr val="3A9D99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3000" y="5886450"/>
            <a:ext cx="237725" cy="63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4"/>
              </a:lnSpc>
            </a:pPr>
            <a:r>
              <a:rPr lang="en-US" b="true" sz="4724" spc="-140">
                <a:solidFill>
                  <a:srgbClr val="3A9D99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5852" y="391280"/>
            <a:ext cx="10066360" cy="283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4"/>
              </a:lnSpc>
            </a:pPr>
            <a:r>
              <a:rPr lang="en-US" sz="6892" spc="-137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Start focused.</a:t>
            </a:r>
          </a:p>
          <a:p>
            <a:pPr algn="l">
              <a:lnSpc>
                <a:spcPts val="7444"/>
              </a:lnSpc>
            </a:pPr>
            <a:r>
              <a:rPr lang="en-US" sz="6892" spc="-137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Validate value.</a:t>
            </a:r>
          </a:p>
          <a:p>
            <a:pPr algn="l">
              <a:lnSpc>
                <a:spcPts val="7444"/>
              </a:lnSpc>
            </a:pPr>
            <a:r>
              <a:rPr lang="en-US" sz="6892" spc="-137" b="true">
                <a:solidFill>
                  <a:srgbClr val="473FD4"/>
                </a:solidFill>
                <a:latin typeface="Roboto Bold"/>
                <a:ea typeface="Roboto Bold"/>
                <a:cs typeface="Roboto Bold"/>
                <a:sym typeface="Roboto Bold"/>
              </a:rPr>
              <a:t>Scale through evidence.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3640352"/>
            <a:ext cx="5020450" cy="1289974"/>
          </a:xfrm>
          <a:custGeom>
            <a:avLst/>
            <a:gdLst/>
            <a:ahLst/>
            <a:cxnLst/>
            <a:rect r="r" b="b" t="t" l="l"/>
            <a:pathLst>
              <a:path h="1289974" w="5020450">
                <a:moveTo>
                  <a:pt x="0" y="0"/>
                </a:moveTo>
                <a:lnTo>
                  <a:pt x="5020450" y="0"/>
                </a:lnTo>
                <a:lnTo>
                  <a:pt x="502045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55322" y="4052325"/>
            <a:ext cx="2706832" cy="4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6"/>
              </a:lnSpc>
            </a:pPr>
            <a:r>
              <a:rPr lang="en-US" sz="3478" spc="-69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Demonstrate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7439" y="4986697"/>
            <a:ext cx="3164687" cy="1122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19" b="true">
                <a:solidFill>
                  <a:srgbClr val="F6F6F6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Validate workflow with few employers and candidates</a:t>
            </a:r>
          </a:p>
          <a:p>
            <a:pPr algn="l">
              <a:lnSpc>
                <a:spcPts val="3071"/>
              </a:lnSpc>
            </a:pPr>
            <a:r>
              <a:rPr lang="en-US" sz="2047" spc="-19" b="true">
                <a:solidFill>
                  <a:srgbClr val="F6F6F6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Test evidence usefulness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436086" y="4066699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29866" y="3640352"/>
            <a:ext cx="5009512" cy="1289974"/>
          </a:xfrm>
          <a:custGeom>
            <a:avLst/>
            <a:gdLst/>
            <a:ahLst/>
            <a:cxnLst/>
            <a:rect r="r" b="b" t="t" l="l"/>
            <a:pathLst>
              <a:path h="1289974" w="5009512">
                <a:moveTo>
                  <a:pt x="0" y="0"/>
                </a:moveTo>
                <a:lnTo>
                  <a:pt x="5009512" y="0"/>
                </a:lnTo>
                <a:lnTo>
                  <a:pt x="500951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153275" y="3840175"/>
            <a:ext cx="487977" cy="876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7"/>
              </a:lnSpc>
            </a:pPr>
            <a:r>
              <a:rPr lang="en-US" b="true" sz="6246" spc="-125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73988" y="4052325"/>
            <a:ext cx="915295" cy="4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6"/>
              </a:lnSpc>
            </a:pPr>
            <a:r>
              <a:rPr lang="en-US" sz="3478" spc="-69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Pilot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90175" y="4986697"/>
            <a:ext cx="3571554" cy="1497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19" b="true">
                <a:solidFill>
                  <a:srgbClr val="F6F6F6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Partner with employers, universities, training providers</a:t>
            </a:r>
          </a:p>
          <a:p>
            <a:pPr algn="l">
              <a:lnSpc>
                <a:spcPts val="3071"/>
              </a:lnSpc>
            </a:pPr>
            <a:r>
              <a:rPr lang="en-US" sz="2047" spc="-19" b="true">
                <a:solidFill>
                  <a:srgbClr val="F6F6F6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Measure engagement and assessment reliability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320622" y="4066699"/>
            <a:ext cx="1312536" cy="437279"/>
          </a:xfrm>
          <a:custGeom>
            <a:avLst/>
            <a:gdLst/>
            <a:ahLst/>
            <a:cxnLst/>
            <a:rect r="r" b="b" t="t" l="l"/>
            <a:pathLst>
              <a:path h="437279" w="1312536">
                <a:moveTo>
                  <a:pt x="0" y="0"/>
                </a:moveTo>
                <a:lnTo>
                  <a:pt x="1312536" y="0"/>
                </a:lnTo>
                <a:lnTo>
                  <a:pt x="131253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403464" y="3640352"/>
            <a:ext cx="4801694" cy="1289974"/>
          </a:xfrm>
          <a:custGeom>
            <a:avLst/>
            <a:gdLst/>
            <a:ahLst/>
            <a:cxnLst/>
            <a:rect r="r" b="b" t="t" l="l"/>
            <a:pathLst>
              <a:path h="1289974" w="4801694">
                <a:moveTo>
                  <a:pt x="0" y="0"/>
                </a:moveTo>
                <a:lnTo>
                  <a:pt x="4801694" y="0"/>
                </a:lnTo>
                <a:lnTo>
                  <a:pt x="480169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986371" y="3840175"/>
            <a:ext cx="501817" cy="876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7"/>
              </a:lnSpc>
            </a:pPr>
            <a:r>
              <a:rPr lang="en-US" b="true" sz="6246" spc="-125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11704" y="4052325"/>
            <a:ext cx="1145265" cy="4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6"/>
              </a:lnSpc>
            </a:pPr>
            <a:r>
              <a:rPr lang="en-US" sz="3478" spc="-69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Scale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98650" y="4986697"/>
            <a:ext cx="3331140" cy="1872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19" b="true">
                <a:solidFill>
                  <a:srgbClr val="F6F6F6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Expand challenge types</a:t>
            </a:r>
          </a:p>
          <a:p>
            <a:pPr algn="l">
              <a:lnSpc>
                <a:spcPts val="3071"/>
              </a:lnSpc>
            </a:pPr>
            <a:r>
              <a:rPr lang="en-US" sz="2047" spc="-19" b="true">
                <a:solidFill>
                  <a:srgbClr val="F6F6F6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Grow employer participation</a:t>
            </a:r>
          </a:p>
          <a:p>
            <a:pPr algn="l">
              <a:lnSpc>
                <a:spcPts val="3071"/>
              </a:lnSpc>
            </a:pPr>
            <a:r>
              <a:rPr lang="en-US" sz="2047" spc="-19" b="true">
                <a:solidFill>
                  <a:srgbClr val="F6F6F6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Improve assessments</a:t>
            </a:r>
          </a:p>
          <a:p>
            <a:pPr algn="l">
              <a:lnSpc>
                <a:spcPts val="3071"/>
              </a:lnSpc>
            </a:pPr>
            <a:r>
              <a:rPr lang="en-US" sz="2047" spc="-19" b="true">
                <a:solidFill>
                  <a:srgbClr val="F6F6F6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Integrate with training and</a:t>
            </a:r>
          </a:p>
          <a:p>
            <a:pPr algn="l">
              <a:lnSpc>
                <a:spcPts val="3071"/>
              </a:lnSpc>
            </a:pPr>
            <a:r>
              <a:rPr lang="en-US" sz="2047" spc="-19" b="true">
                <a:solidFill>
                  <a:srgbClr val="F6F6F6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talent systems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26574" y="7062064"/>
            <a:ext cx="12862852" cy="229572"/>
          </a:xfrm>
          <a:custGeom>
            <a:avLst/>
            <a:gdLst/>
            <a:ahLst/>
            <a:cxnLst/>
            <a:rect r="r" b="b" t="t" l="l"/>
            <a:pathLst>
              <a:path h="229572" w="12862852">
                <a:moveTo>
                  <a:pt x="0" y="0"/>
                </a:moveTo>
                <a:lnTo>
                  <a:pt x="12862852" y="0"/>
                </a:lnTo>
                <a:lnTo>
                  <a:pt x="1286285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23913" y="7607283"/>
            <a:ext cx="1902469" cy="373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b="true" sz="2047" spc="-19">
                <a:solidFill>
                  <a:srgbClr val="473FD4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WHO WE SERVE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8776" y="8104291"/>
            <a:ext cx="3416193" cy="1122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19" b="true">
                <a:solidFill>
                  <a:srgbClr val="F6F6F6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Employers and organizations</a:t>
            </a:r>
          </a:p>
          <a:p>
            <a:pPr algn="l">
              <a:lnSpc>
                <a:spcPts val="3071"/>
              </a:lnSpc>
            </a:pPr>
            <a:r>
              <a:rPr lang="en-US" sz="2047" spc="-19" b="true">
                <a:solidFill>
                  <a:srgbClr val="F6F6F6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needing structured</a:t>
            </a:r>
          </a:p>
          <a:p>
            <a:pPr algn="l">
              <a:lnSpc>
                <a:spcPts val="3071"/>
              </a:lnSpc>
            </a:pPr>
            <a:r>
              <a:rPr lang="en-US" sz="2047" spc="-19" b="true">
                <a:solidFill>
                  <a:srgbClr val="F6F6F6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skills evaluation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4572000" y="7499343"/>
            <a:ext cx="218756" cy="2361309"/>
          </a:xfrm>
          <a:custGeom>
            <a:avLst/>
            <a:gdLst/>
            <a:ahLst/>
            <a:cxnLst/>
            <a:rect r="r" b="b" t="t" l="l"/>
            <a:pathLst>
              <a:path h="2361309" w="218756">
                <a:moveTo>
                  <a:pt x="0" y="0"/>
                </a:moveTo>
                <a:lnTo>
                  <a:pt x="218756" y="0"/>
                </a:lnTo>
                <a:lnTo>
                  <a:pt x="218756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041567" y="7607283"/>
            <a:ext cx="2156583" cy="373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b="true" sz="2047" spc="-19">
                <a:solidFill>
                  <a:srgbClr val="473FD4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WHY IT MATTERS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30827" y="8104291"/>
            <a:ext cx="3230565" cy="747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spc="-19" b="true">
                <a:solidFill>
                  <a:srgbClr val="F6F6F6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Better screening evidence</a:t>
            </a:r>
          </a:p>
          <a:p>
            <a:pPr algn="l">
              <a:lnSpc>
                <a:spcPts val="3071"/>
              </a:lnSpc>
            </a:pPr>
            <a:r>
              <a:rPr lang="en-US" sz="2047" spc="-19" b="true">
                <a:solidFill>
                  <a:srgbClr val="F6F6F6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Clearer candidate feedback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706488" y="7499343"/>
            <a:ext cx="229694" cy="2361309"/>
          </a:xfrm>
          <a:custGeom>
            <a:avLst/>
            <a:gdLst/>
            <a:ahLst/>
            <a:cxnLst/>
            <a:rect r="r" b="b" t="t" l="l"/>
            <a:pathLst>
              <a:path h="2361309" w="229694">
                <a:moveTo>
                  <a:pt x="0" y="0"/>
                </a:moveTo>
                <a:lnTo>
                  <a:pt x="229694" y="0"/>
                </a:lnTo>
                <a:lnTo>
                  <a:pt x="229694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185869" y="7607283"/>
            <a:ext cx="2956888" cy="373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b="true" sz="2047" spc="-19">
                <a:solidFill>
                  <a:srgbClr val="473FD4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HOW WE CREATE VALUE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42227" y="8157436"/>
            <a:ext cx="3750469" cy="121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spc="-21" b="true">
                <a:solidFill>
                  <a:srgbClr val="F6F6F6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Employer subscriptions</a:t>
            </a:r>
          </a:p>
          <a:p>
            <a:pPr algn="l">
              <a:lnSpc>
                <a:spcPts val="3282"/>
              </a:lnSpc>
            </a:pPr>
            <a:r>
              <a:rPr lang="en-US" sz="2188" spc="-21" b="true">
                <a:solidFill>
                  <a:srgbClr val="F6F6F6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Paid challenges</a:t>
            </a:r>
          </a:p>
          <a:p>
            <a:pPr algn="l">
              <a:lnSpc>
                <a:spcPts val="3282"/>
              </a:lnSpc>
            </a:pPr>
            <a:r>
              <a:rPr lang="en-US" sz="2188" spc="-21" b="true">
                <a:solidFill>
                  <a:srgbClr val="F6F6F6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Institutional partnerships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3059732" y="7062064"/>
            <a:ext cx="5020450" cy="3224936"/>
          </a:xfrm>
          <a:custGeom>
            <a:avLst/>
            <a:gdLst/>
            <a:ahLst/>
            <a:cxnLst/>
            <a:rect r="r" b="b" t="t" l="l"/>
            <a:pathLst>
              <a:path h="3224936" w="5020450">
                <a:moveTo>
                  <a:pt x="0" y="0"/>
                </a:moveTo>
                <a:lnTo>
                  <a:pt x="5020450" y="0"/>
                </a:lnTo>
                <a:lnTo>
                  <a:pt x="502045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685635" y="7607283"/>
            <a:ext cx="3036463" cy="373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b="true" sz="2047" spc="-19">
                <a:solidFill>
                  <a:srgbClr val="22A492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IMPLEMENTATION PATH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685017" y="8056293"/>
            <a:ext cx="3098269" cy="1839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19">
                <a:solidFill>
                  <a:srgbClr val="F6F6F6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Current demo is prototype</a:t>
            </a:r>
          </a:p>
          <a:p>
            <a:pPr algn="l">
              <a:lnSpc>
                <a:spcPts val="2457"/>
              </a:lnSpc>
            </a:pPr>
            <a:r>
              <a:rPr lang="en-US" sz="2047" spc="-19">
                <a:solidFill>
                  <a:srgbClr val="F6F6F6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Production requires</a:t>
            </a:r>
          </a:p>
          <a:p>
            <a:pPr algn="l">
              <a:lnSpc>
                <a:spcPts val="2457"/>
              </a:lnSpc>
            </a:pPr>
            <a:r>
              <a:rPr lang="en-US" sz="2047" spc="-19">
                <a:solidFill>
                  <a:srgbClr val="F6F6F6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authentication, privacy/</a:t>
            </a:r>
          </a:p>
          <a:p>
            <a:pPr algn="l">
              <a:lnSpc>
                <a:spcPts val="2457"/>
              </a:lnSpc>
            </a:pPr>
            <a:r>
              <a:rPr lang="en-US" sz="2047" spc="-19">
                <a:solidFill>
                  <a:srgbClr val="F6F6F6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security controls,</a:t>
            </a:r>
          </a:p>
          <a:p>
            <a:pPr algn="l">
              <a:lnSpc>
                <a:spcPts val="2457"/>
              </a:lnSpc>
            </a:pPr>
            <a:r>
              <a:rPr lang="en-US" sz="2047" spc="-19">
                <a:solidFill>
                  <a:srgbClr val="F6F6F6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operational monitoring,</a:t>
            </a:r>
          </a:p>
          <a:p>
            <a:pPr algn="l">
              <a:lnSpc>
                <a:spcPts val="2457"/>
              </a:lnSpc>
            </a:pPr>
            <a:r>
              <a:rPr lang="en-US" sz="2047" spc="-19">
                <a:solidFill>
                  <a:srgbClr val="F6F6F6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and realuser validation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0578" y="3840175"/>
            <a:ext cx="325450" cy="876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7"/>
              </a:lnSpc>
            </a:pPr>
            <a:r>
              <a:rPr lang="en-US" b="true" sz="6246" spc="-125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3761" y="811638"/>
            <a:ext cx="7633292" cy="217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1"/>
              </a:lnSpc>
            </a:pPr>
            <a:r>
              <a:rPr lang="en-US" sz="7907" spc="-158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Give capability</a:t>
            </a:r>
          </a:p>
          <a:p>
            <a:pPr algn="l">
              <a:lnSpc>
                <a:spcPts val="8541"/>
              </a:lnSpc>
            </a:pPr>
            <a:r>
              <a:rPr lang="en-US" sz="7907" spc="-158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a way to </a:t>
            </a:r>
            <a:r>
              <a:rPr lang="en-US" sz="7907" spc="-158" b="true">
                <a:solidFill>
                  <a:srgbClr val="483FE1"/>
                </a:solidFill>
                <a:latin typeface="Roboto Bold"/>
                <a:ea typeface="Roboto Bold"/>
                <a:cs typeface="Roboto Bold"/>
                <a:sym typeface="Roboto Bold"/>
              </a:rPr>
              <a:t>be seen.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9338" y="3656978"/>
            <a:ext cx="7075589" cy="70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spc="-18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Qudra aims to help young people demonstrate what they can do—and help employers make more informed decisions about talent.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4919394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38397" y="5173018"/>
            <a:ext cx="3316596" cy="482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26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Evidence over claims.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5783021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12233" y="6046547"/>
            <a:ext cx="5932960" cy="482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26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Structured challenges over guesswork.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6635716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09426" y="6920076"/>
            <a:ext cx="6213670" cy="482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26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AI assistance with clear evaluation rules.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0094" y="8138229"/>
            <a:ext cx="7313414" cy="1013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2"/>
              </a:lnSpc>
            </a:pPr>
            <a:r>
              <a:rPr lang="en-US" sz="5554" spc="-54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Qudra | </a:t>
            </a:r>
            <a:r>
              <a:rPr lang="ar-EG" sz="5554" spc="-54" b="true">
                <a:solidFill>
                  <a:srgbClr val="483FE1"/>
                </a:solidFill>
                <a:latin typeface="Roboto Bold"/>
                <a:ea typeface="Roboto Bold"/>
                <a:cs typeface="Roboto Bold"/>
                <a:sym typeface="Roboto Bold"/>
                <a:rtl val="true"/>
              </a:rPr>
              <a:t>قدرة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0094" y="9236068"/>
            <a:ext cx="7313414" cy="418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2"/>
              </a:lnSpc>
            </a:pPr>
            <a:r>
              <a:rPr lang="en-US" sz="2254" spc="-2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Turn skills into </a:t>
            </a:r>
            <a:r>
              <a:rPr lang="en-US" sz="2254" spc="-22">
                <a:solidFill>
                  <a:srgbClr val="483FE1"/>
                </a:solidFill>
                <a:latin typeface="Roboto"/>
                <a:ea typeface="Roboto"/>
                <a:cs typeface="Roboto"/>
                <a:sym typeface="Roboto"/>
              </a:rPr>
              <a:t>evidence.</a:t>
            </a:r>
            <a:r>
              <a:rPr lang="en-US" sz="2254" spc="-22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 Connect talent with </a:t>
            </a:r>
            <a:r>
              <a:rPr lang="en-US" sz="2254" spc="-22" b="true">
                <a:solidFill>
                  <a:srgbClr val="21918F"/>
                </a:solidFill>
                <a:latin typeface="Roboto Bold"/>
                <a:ea typeface="Roboto Bold"/>
                <a:cs typeface="Roboto Bold"/>
                <a:sym typeface="Roboto Bold"/>
              </a:rPr>
              <a:t>opportunity.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831464" y="426348"/>
            <a:ext cx="9592450" cy="9226597"/>
          </a:xfrm>
          <a:custGeom>
            <a:avLst/>
            <a:gdLst/>
            <a:ahLst/>
            <a:cxnLst/>
            <a:rect r="r" b="b" t="t" l="l"/>
            <a:pathLst>
              <a:path h="9226597" w="9592450">
                <a:moveTo>
                  <a:pt x="0" y="0"/>
                </a:moveTo>
                <a:lnTo>
                  <a:pt x="9592450" y="0"/>
                </a:lnTo>
                <a:lnTo>
                  <a:pt x="9592450" y="9226597"/>
                </a:lnTo>
                <a:lnTo>
                  <a:pt x="0" y="92265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279492">
            <a:off x="15592024" y="2543276"/>
            <a:ext cx="1624411" cy="69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2"/>
              </a:lnSpc>
            </a:pPr>
            <a:r>
              <a:rPr lang="en-US" sz="2430">
                <a:solidFill>
                  <a:srgbClr val="0C0D27"/>
                </a:solidFill>
                <a:latin typeface="Roboto"/>
                <a:ea typeface="Roboto"/>
                <a:cs typeface="Roboto"/>
                <a:sym typeface="Roboto"/>
              </a:rPr>
              <a:t>Opportunity unlocked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101866" y="5356674"/>
            <a:ext cx="2832890" cy="1508614"/>
          </a:xfrm>
          <a:custGeom>
            <a:avLst/>
            <a:gdLst/>
            <a:ahLst/>
            <a:cxnLst/>
            <a:rect r="r" b="b" t="t" l="l"/>
            <a:pathLst>
              <a:path h="1508614" w="2832890">
                <a:moveTo>
                  <a:pt x="0" y="0"/>
                </a:moveTo>
                <a:lnTo>
                  <a:pt x="2832890" y="0"/>
                </a:lnTo>
                <a:lnTo>
                  <a:pt x="283289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421875">
            <a:off x="11807215" y="5848082"/>
            <a:ext cx="1164885" cy="62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2"/>
              </a:lnSpc>
            </a:pPr>
            <a:r>
              <a:rPr lang="en-US" sz="2285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Verified evidence</a:t>
            </a:r>
          </a:p>
        </p:txBody>
      </p:sp>
      <p:sp>
        <p:nvSpPr>
          <p:cNvPr name="TextBox 17" id="17"/>
          <p:cNvSpPr txBox="true"/>
          <p:nvPr/>
        </p:nvSpPr>
        <p:spPr>
          <a:xfrm rot="564257">
            <a:off x="8067052" y="8228739"/>
            <a:ext cx="2045432" cy="749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96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Demonstrated skills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DAHXl-zeynA</dc:identifier>
  <dcterms:modified xsi:type="dcterms:W3CDTF">2011-08-01T06:04:30Z</dcterms:modified>
  <cp:revision>1</cp:revision>
  <dc:title>Qudra AI Quest Pitch Deck</dc:title>
</cp:coreProperties>
</file>